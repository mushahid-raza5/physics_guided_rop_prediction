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3" r:id="rId6"/>
    <p:sldId id="260" r:id="rId7"/>
    <p:sldId id="261" r:id="rId8"/>
    <p:sldId id="264" r:id="rId9"/>
    <p:sldId id="268" r:id="rId10"/>
    <p:sldId id="267" r:id="rId11"/>
    <p:sldId id="265" r:id="rId12"/>
    <p:sldId id="266" r:id="rId13"/>
    <p:sldId id="269" r:id="rId14"/>
    <p:sldId id="270" r:id="rId15"/>
    <p:sldId id="272" r:id="rId16"/>
    <p:sldId id="271" r:id="rId17"/>
    <p:sldId id="273" r:id="rId1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524C6359-9BB8-4148-8114-537E698DA205}" type="datetime1">
              <a:rPr lang="en-US" smtClean="0"/>
              <a:t>12/11/2025</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13272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12/11/2025</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180923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12/11/2025</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721106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463255ED-7101-4D18-A8AE-3B5E4CB87EA5}" type="datetime1">
              <a:rPr lang="en-US" smtClean="0"/>
              <a:t>12/11/2025</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352206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CD52F23D-51F6-4C94-8CD5-B9ABBF67EE23}" type="datetime1">
              <a:rPr lang="en-US" smtClean="0"/>
              <a:t>12/11/2025</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1147778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D51A702F-6367-4FD1-89A8-3744BE6BA9A2}" type="datetime1">
              <a:rPr lang="en-US" smtClean="0"/>
              <a:t>12/11/2025</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62332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4A6E99BD-4B4F-4460-B452-0E8146ACCF8F}" type="datetime1">
              <a:rPr lang="en-US" smtClean="0"/>
              <a:t>12/11/2025</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1010575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EB6FD34C-1867-42A9-AC54-D15ADD8A65E7}" type="datetime1">
              <a:rPr lang="en-US" smtClean="0"/>
              <a:t>12/11/2025</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094618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336133E9-A654-4C17-8C3C-DDCAC83D6EBF}" type="datetime1">
              <a:rPr lang="en-US" smtClean="0"/>
              <a:t>12/11/2025</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738196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A4649BD0-10DB-43E7-8F22-40B3D51B8FC3}" type="datetime1">
              <a:rPr lang="en-US" smtClean="0"/>
              <a:t>12/11/2025</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418644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0A16C79C-F566-427A-93F6-434A4E613134}" type="datetime1">
              <a:rPr lang="en-US" smtClean="0"/>
              <a:t>12/11/2025</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849054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8769D389-4C4C-4FD7-9E6B-9F44477F0EB8}" type="datetime1">
              <a:rPr lang="en-US" smtClean="0"/>
              <a:t>12/11/2025</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endParaRPr lang="en-US"/>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a:t>
            </a:fld>
            <a:endParaRPr lang="en-US"/>
          </a:p>
        </p:txBody>
      </p:sp>
    </p:spTree>
    <p:extLst>
      <p:ext uri="{BB962C8B-B14F-4D97-AF65-F5344CB8AC3E}">
        <p14:creationId xmlns:p14="http://schemas.microsoft.com/office/powerpoint/2010/main" val="100264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hf sldNum="0" hdr="0" ft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4" name="Picture 3" descr="Bird's eye view of the oil platform at sea">
            <a:extLst>
              <a:ext uri="{FF2B5EF4-FFF2-40B4-BE49-F238E27FC236}">
                <a16:creationId xmlns:a16="http://schemas.microsoft.com/office/drawing/2014/main" id="{117E723C-CC47-1FAA-C9BC-F987C226F439}"/>
              </a:ext>
            </a:extLst>
          </p:cNvPr>
          <p:cNvPicPr>
            <a:picLocks noChangeAspect="1"/>
          </p:cNvPicPr>
          <p:nvPr/>
        </p:nvPicPr>
        <p:blipFill>
          <a:blip r:embed="rId2"/>
          <a:srcRect t="12309" b="3374"/>
          <a:stretch>
            <a:fillRect/>
          </a:stretch>
        </p:blipFill>
        <p:spPr>
          <a:xfrm>
            <a:off x="20" y="10"/>
            <a:ext cx="12185156" cy="6857990"/>
          </a:xfrm>
          <a:prstGeom prst="rect">
            <a:avLst/>
          </a:prstGeom>
        </p:spPr>
      </p:pic>
      <p:sp>
        <p:nvSpPr>
          <p:cNvPr id="61" name="Rectangle 60">
            <a:extLst>
              <a:ext uri="{FF2B5EF4-FFF2-40B4-BE49-F238E27FC236}">
                <a16:creationId xmlns:a16="http://schemas.microsoft.com/office/drawing/2014/main" id="{948AEA76-67F2-4344-A189-9BFFE0076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61214C-D621-FF98-A84F-D07D585AF017}"/>
              </a:ext>
            </a:extLst>
          </p:cNvPr>
          <p:cNvSpPr>
            <a:spLocks noGrp="1"/>
          </p:cNvSpPr>
          <p:nvPr>
            <p:ph type="ctrTitle"/>
          </p:nvPr>
        </p:nvSpPr>
        <p:spPr>
          <a:xfrm>
            <a:off x="530352" y="799521"/>
            <a:ext cx="9632884" cy="2179601"/>
          </a:xfrm>
        </p:spPr>
        <p:txBody>
          <a:bodyPr>
            <a:normAutofit/>
          </a:bodyPr>
          <a:lstStyle/>
          <a:p>
            <a:pPr algn="just">
              <a:lnSpc>
                <a:spcPct val="90000"/>
              </a:lnSpc>
            </a:pPr>
            <a:r>
              <a:rPr lang="en-US" sz="2800" b="1" i="0" dirty="0">
                <a:solidFill>
                  <a:srgbClr val="FFFFFF"/>
                </a:solidFill>
                <a:latin typeface="Calibri" panose="020F0502020204030204" pitchFamily="34" charset="0"/>
                <a:ea typeface="Calibri" panose="020F0502020204030204" pitchFamily="34" charset="0"/>
                <a:cs typeface="Calibri" panose="020F0502020204030204" pitchFamily="34" charset="0"/>
              </a:rPr>
              <a:t>Predicting Rate of Penetration (ROP) using drilling parameters.</a:t>
            </a:r>
            <a:br>
              <a:rPr lang="en-US" sz="2800" b="1" i="0" dirty="0">
                <a:solidFill>
                  <a:srgbClr val="FFFFFF"/>
                </a:solidFill>
                <a:latin typeface="Calibri" panose="020F0502020204030204" pitchFamily="34" charset="0"/>
                <a:ea typeface="Calibri" panose="020F0502020204030204" pitchFamily="34" charset="0"/>
                <a:cs typeface="Calibri" panose="020F0502020204030204" pitchFamily="34" charset="0"/>
              </a:rPr>
            </a:br>
            <a:r>
              <a:rPr lang="en-US" sz="2800" i="0" dirty="0">
                <a:solidFill>
                  <a:srgbClr val="FFFFFF"/>
                </a:solidFill>
                <a:latin typeface="Calibri" panose="020F0502020204030204" pitchFamily="34" charset="0"/>
                <a:ea typeface="Calibri" panose="020F0502020204030204" pitchFamily="34" charset="0"/>
                <a:cs typeface="Calibri" panose="020F0502020204030204" pitchFamily="34" charset="0"/>
              </a:rPr>
              <a:t>A Comparative Analysis: Statistical Linear Regression vs. Physics-Based Modelling</a:t>
            </a:r>
            <a:endParaRPr lang="en-PK" sz="2800" b="1" i="0"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FE22EA55-07DB-E882-87C8-3183117954AB}"/>
              </a:ext>
            </a:extLst>
          </p:cNvPr>
          <p:cNvSpPr>
            <a:spLocks noGrp="1"/>
          </p:cNvSpPr>
          <p:nvPr>
            <p:ph type="subTitle" idx="1"/>
          </p:nvPr>
        </p:nvSpPr>
        <p:spPr>
          <a:xfrm>
            <a:off x="530352" y="3624760"/>
            <a:ext cx="5565648" cy="1633040"/>
          </a:xfrm>
        </p:spPr>
        <p:txBody>
          <a:bodyPr>
            <a:normAutofit/>
          </a:bodyPr>
          <a:lstStyle/>
          <a:p>
            <a:r>
              <a:rPr lang="en-US" b="1" dirty="0">
                <a:solidFill>
                  <a:srgbClr val="FFFFFF"/>
                </a:solidFill>
                <a:latin typeface="Calibri" panose="020F0502020204030204" pitchFamily="34" charset="0"/>
                <a:ea typeface="Calibri" panose="020F0502020204030204" pitchFamily="34" charset="0"/>
                <a:cs typeface="Calibri" panose="020F0502020204030204" pitchFamily="34" charset="0"/>
              </a:rPr>
              <a:t>Statistical Models for Data Science</a:t>
            </a:r>
          </a:p>
          <a:p>
            <a:r>
              <a:rPr lang="en-US" b="1" dirty="0">
                <a:solidFill>
                  <a:srgbClr val="FFFFFF"/>
                </a:solidFill>
                <a:latin typeface="Calibri" panose="020F0502020204030204" pitchFamily="34" charset="0"/>
                <a:ea typeface="Calibri" panose="020F0502020204030204" pitchFamily="34" charset="0"/>
                <a:cs typeface="Calibri" panose="020F0502020204030204" pitchFamily="34" charset="0"/>
              </a:rPr>
              <a:t>Mushahid Raza</a:t>
            </a:r>
          </a:p>
          <a:p>
            <a:r>
              <a:rPr lang="en-US" b="1" dirty="0">
                <a:solidFill>
                  <a:srgbClr val="FFFFFF"/>
                </a:solidFill>
                <a:latin typeface="Calibri" panose="020F0502020204030204" pitchFamily="34" charset="0"/>
                <a:ea typeface="Calibri" panose="020F0502020204030204" pitchFamily="34" charset="0"/>
                <a:cs typeface="Calibri" panose="020F0502020204030204" pitchFamily="34" charset="0"/>
              </a:rPr>
              <a:t>11-December-2025</a:t>
            </a:r>
            <a:endParaRPr lang="en-PK" b="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grpSp>
        <p:nvGrpSpPr>
          <p:cNvPr id="63"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64"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65"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66"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67"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68"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69"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16579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42D98E1-37D2-4470-BF74-845E89795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AE1D221E-A5C4-31B6-D29B-66E5D9E60204}"/>
              </a:ext>
            </a:extLst>
          </p:cNvPr>
          <p:cNvSpPr>
            <a:spLocks noGrp="1"/>
          </p:cNvSpPr>
          <p:nvPr>
            <p:ph type="title"/>
          </p:nvPr>
        </p:nvSpPr>
        <p:spPr>
          <a:xfrm>
            <a:off x="525718" y="775403"/>
            <a:ext cx="5512288" cy="1835608"/>
          </a:xfrm>
        </p:spPr>
        <p:txBody>
          <a:bodyPr anchor="t">
            <a:normAutofit/>
          </a:bodyPr>
          <a:lstStyle/>
          <a:p>
            <a:r>
              <a:rPr lang="en-US" b="1" i="0" dirty="0">
                <a:latin typeface="Calibri" panose="020F0502020204030204" pitchFamily="34" charset="0"/>
                <a:ea typeface="Calibri" panose="020F0502020204030204" pitchFamily="34" charset="0"/>
                <a:cs typeface="Calibri" panose="020F0502020204030204" pitchFamily="34" charset="0"/>
              </a:rPr>
              <a:t>Problem Statement &amp; Objective</a:t>
            </a:r>
            <a:br>
              <a:rPr lang="en-US" b="1" i="0" dirty="0"/>
            </a:br>
            <a:endParaRPr lang="en-PK" dirty="0"/>
          </a:p>
        </p:txBody>
      </p:sp>
      <p:grpSp>
        <p:nvGrpSpPr>
          <p:cNvPr id="34" name="Graphic 78">
            <a:extLst>
              <a:ext uri="{FF2B5EF4-FFF2-40B4-BE49-F238E27FC236}">
                <a16:creationId xmlns:a16="http://schemas.microsoft.com/office/drawing/2014/main" id="{2EDC2578-BDB0-4118-975D-CFCE02823D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63724" y="776109"/>
            <a:ext cx="972241" cy="45718"/>
            <a:chOff x="4886325" y="3371754"/>
            <a:chExt cx="2418492" cy="113728"/>
          </a:xfrm>
          <a:solidFill>
            <a:schemeClr val="accent1"/>
          </a:solidFill>
        </p:grpSpPr>
        <p:sp>
          <p:nvSpPr>
            <p:cNvPr id="13" name="Graphic 78">
              <a:extLst>
                <a:ext uri="{FF2B5EF4-FFF2-40B4-BE49-F238E27FC236}">
                  <a16:creationId xmlns:a16="http://schemas.microsoft.com/office/drawing/2014/main" id="{FB6536F0-4A9C-46C9-96E9-22CBB33E6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5" name="Graphic 78">
              <a:extLst>
                <a:ext uri="{FF2B5EF4-FFF2-40B4-BE49-F238E27FC236}">
                  <a16:creationId xmlns:a16="http://schemas.microsoft.com/office/drawing/2014/main" id="{DFD6A33A-F889-42D7-ADC2-DD9B88DF060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6" name="Graphic 78">
                <a:extLst>
                  <a:ext uri="{FF2B5EF4-FFF2-40B4-BE49-F238E27FC236}">
                    <a16:creationId xmlns:a16="http://schemas.microsoft.com/office/drawing/2014/main" id="{C375AFD7-9E86-4D19-B86E-C936D33B0D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6" name="Graphic 78">
                <a:extLst>
                  <a:ext uri="{FF2B5EF4-FFF2-40B4-BE49-F238E27FC236}">
                    <a16:creationId xmlns:a16="http://schemas.microsoft.com/office/drawing/2014/main" id="{4102C78E-31A2-4DB3-8790-415EB0B48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37" name="Graphic 78">
                <a:extLst>
                  <a:ext uri="{FF2B5EF4-FFF2-40B4-BE49-F238E27FC236}">
                    <a16:creationId xmlns:a16="http://schemas.microsoft.com/office/drawing/2014/main" id="{4F3E144D-8167-438A-B67F-50F5D9C0C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38" name="Graphic 78">
                <a:extLst>
                  <a:ext uri="{FF2B5EF4-FFF2-40B4-BE49-F238E27FC236}">
                    <a16:creationId xmlns:a16="http://schemas.microsoft.com/office/drawing/2014/main" id="{4BE2135F-02C1-449F-B195-232E9AFD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pic>
        <p:nvPicPr>
          <p:cNvPr id="5" name="Picture 4" descr="A clock and stacks of money&#10;&#10;AI-generated content may be incorrect.">
            <a:extLst>
              <a:ext uri="{FF2B5EF4-FFF2-40B4-BE49-F238E27FC236}">
                <a16:creationId xmlns:a16="http://schemas.microsoft.com/office/drawing/2014/main" id="{659FD538-8E6B-8501-FA62-51B2492399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1626" y="2851111"/>
            <a:ext cx="3411864" cy="3411864"/>
          </a:xfrm>
          <a:prstGeom prst="rect">
            <a:avLst/>
          </a:prstGeom>
        </p:spPr>
      </p:pic>
      <p:sp>
        <p:nvSpPr>
          <p:cNvPr id="3" name="Content Placeholder 2">
            <a:extLst>
              <a:ext uri="{FF2B5EF4-FFF2-40B4-BE49-F238E27FC236}">
                <a16:creationId xmlns:a16="http://schemas.microsoft.com/office/drawing/2014/main" id="{3728096F-DC68-DBA3-23FF-FB39718DE152}"/>
              </a:ext>
            </a:extLst>
          </p:cNvPr>
          <p:cNvSpPr>
            <a:spLocks noGrp="1"/>
          </p:cNvSpPr>
          <p:nvPr>
            <p:ph idx="1"/>
          </p:nvPr>
        </p:nvSpPr>
        <p:spPr>
          <a:xfrm>
            <a:off x="5334682" y="1114691"/>
            <a:ext cx="5268592" cy="5144455"/>
          </a:xfrm>
        </p:spPr>
        <p:txBody>
          <a:bodyPr>
            <a:normAutofit/>
          </a:bodyPr>
          <a:lstStyle/>
          <a:p>
            <a:pPr>
              <a:lnSpc>
                <a:spcPct val="100000"/>
              </a:lnSpc>
            </a:pPr>
            <a:r>
              <a:rPr lang="en-US" sz="1900" b="1" dirty="0"/>
              <a:t>The Business Problem: </a:t>
            </a:r>
          </a:p>
          <a:p>
            <a:pPr marL="342900" indent="-342900" algn="just">
              <a:lnSpc>
                <a:spcPct val="10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Goal: </a:t>
            </a:r>
            <a:r>
              <a:rPr lang="en-US" sz="1800" dirty="0">
                <a:latin typeface="Calibri" panose="020F0502020204030204" pitchFamily="34" charset="0"/>
                <a:ea typeface="Calibri" panose="020F0502020204030204" pitchFamily="34" charset="0"/>
                <a:cs typeface="Calibri" panose="020F0502020204030204" pitchFamily="34" charset="0"/>
              </a:rPr>
              <a:t>To predict the Rate of Penetration (ROP) for an oil well to optimize drilling speed and reduce daily rig cost.</a:t>
            </a:r>
          </a:p>
          <a:p>
            <a:pPr>
              <a:lnSpc>
                <a:spcPct val="100000"/>
              </a:lnSpc>
            </a:pPr>
            <a:r>
              <a:rPr lang="en-US" sz="1800" b="1" dirty="0">
                <a:latin typeface="Calibri" panose="020F0502020204030204" pitchFamily="34" charset="0"/>
                <a:ea typeface="Calibri" panose="020F0502020204030204" pitchFamily="34" charset="0"/>
                <a:cs typeface="Calibri" panose="020F0502020204030204" pitchFamily="34" charset="0"/>
              </a:rPr>
              <a:t>Why this matters:</a:t>
            </a:r>
          </a:p>
          <a:p>
            <a:pPr lvl="2">
              <a:lnSpc>
                <a:spcPct val="100000"/>
              </a:lnSpc>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Cost:</a:t>
            </a:r>
            <a:r>
              <a:rPr lang="en-US" dirty="0">
                <a:latin typeface="Calibri" panose="020F0502020204030204" pitchFamily="34" charset="0"/>
                <a:ea typeface="Calibri" panose="020F0502020204030204" pitchFamily="34" charset="0"/>
                <a:cs typeface="Calibri" panose="020F0502020204030204" pitchFamily="34" charset="0"/>
              </a:rPr>
              <a:t> Offshore rigs cost &gt;$100k/day. Faster drilling = Direct savings.</a:t>
            </a:r>
          </a:p>
          <a:p>
            <a:pPr lvl="2">
              <a:lnSpc>
                <a:spcPct val="100000"/>
              </a:lnSpc>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Optimization: </a:t>
            </a:r>
            <a:r>
              <a:rPr lang="en-US" dirty="0">
                <a:latin typeface="Calibri" panose="020F0502020204030204" pitchFamily="34" charset="0"/>
                <a:ea typeface="Calibri" panose="020F0502020204030204" pitchFamily="34" charset="0"/>
                <a:cs typeface="Calibri" panose="020F0502020204030204" pitchFamily="34" charset="0"/>
              </a:rPr>
              <a:t>Accurate predictions allow engineers to select the optimal Weight on Bit (WOB) and Rotation Speed (RPM).</a:t>
            </a:r>
          </a:p>
          <a:p>
            <a:pPr algn="just">
              <a:lnSpc>
                <a:spcPct val="100000"/>
              </a:lnSpc>
            </a:pPr>
            <a:r>
              <a:rPr lang="en-US" sz="1800" b="1" dirty="0">
                <a:latin typeface="Calibri" panose="020F0502020204030204" pitchFamily="34" charset="0"/>
                <a:ea typeface="Calibri" panose="020F0502020204030204" pitchFamily="34" charset="0"/>
                <a:cs typeface="Calibri" panose="020F0502020204030204" pitchFamily="34" charset="0"/>
              </a:rPr>
              <a:t>Methodology: </a:t>
            </a:r>
            <a:r>
              <a:rPr lang="en-US" sz="1800" dirty="0">
                <a:latin typeface="Calibri" panose="020F0502020204030204" pitchFamily="34" charset="0"/>
                <a:ea typeface="Calibri" panose="020F0502020204030204" pitchFamily="34" charset="0"/>
                <a:cs typeface="Calibri" panose="020F0502020204030204" pitchFamily="34" charset="0"/>
              </a:rPr>
              <a:t>We compared two modeling approaches to see which one is better for drilling.</a:t>
            </a:r>
          </a:p>
          <a:p>
            <a:pPr marL="742950" lvl="2" indent="-285750" algn="just">
              <a:lnSpc>
                <a:spcPct val="10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Statistical Model (Log-Linear Regression): Learns purely from historical data patterns.</a:t>
            </a:r>
          </a:p>
          <a:p>
            <a:pPr marL="742950" lvl="2" indent="-285750" algn="just">
              <a:lnSpc>
                <a:spcPct val="100000"/>
              </a:lnSpc>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Physics-Based Model (Bingham Model): Uses engineering laws to constrain the predictions.</a:t>
            </a:r>
            <a:endParaRPr lang="en-PK" dirty="0"/>
          </a:p>
        </p:txBody>
      </p:sp>
      <p:sp>
        <p:nvSpPr>
          <p:cNvPr id="39" name="Freeform: Shape 38">
            <a:extLst>
              <a:ext uri="{FF2B5EF4-FFF2-40B4-BE49-F238E27FC236}">
                <a16:creationId xmlns:a16="http://schemas.microsoft.com/office/drawing/2014/main" id="{E1BEDD21-8CC9-4E04-B8CF-CE59786DF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0" name="Group 39">
            <a:extLst>
              <a:ext uri="{FF2B5EF4-FFF2-40B4-BE49-F238E27FC236}">
                <a16:creationId xmlns:a16="http://schemas.microsoft.com/office/drawing/2014/main" id="{A6DA475A-533E-4A16-A83E-0171FFB6D8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10732601" y="5351135"/>
            <a:ext cx="886141" cy="802496"/>
            <a:chOff x="10948005" y="3272152"/>
            <a:chExt cx="868640" cy="786648"/>
          </a:xfrm>
          <a:solidFill>
            <a:schemeClr val="accent1"/>
          </a:solidFill>
        </p:grpSpPr>
        <p:sp>
          <p:nvSpPr>
            <p:cNvPr id="23" name="Freeform: Shape 22">
              <a:extLst>
                <a:ext uri="{FF2B5EF4-FFF2-40B4-BE49-F238E27FC236}">
                  <a16:creationId xmlns:a16="http://schemas.microsoft.com/office/drawing/2014/main" id="{9EB076CD-5E1A-4B4E-8434-EB36C96CD9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1" name="Freeform: Shape 40">
              <a:extLst>
                <a:ext uri="{FF2B5EF4-FFF2-40B4-BE49-F238E27FC236}">
                  <a16:creationId xmlns:a16="http://schemas.microsoft.com/office/drawing/2014/main" id="{F6EB8026-10C9-4869-9F11-AD4C064F9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C49D45E4-020D-4F13-BA0F-A5307EA2A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3" name="Graphic 12">
              <a:extLst>
                <a:ext uri="{FF2B5EF4-FFF2-40B4-BE49-F238E27FC236}">
                  <a16:creationId xmlns:a16="http://schemas.microsoft.com/office/drawing/2014/main" id="{9C88C3FA-F709-4D00-9E6D-882DB1E28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44" name="Graphic 15">
              <a:extLst>
                <a:ext uri="{FF2B5EF4-FFF2-40B4-BE49-F238E27FC236}">
                  <a16:creationId xmlns:a16="http://schemas.microsoft.com/office/drawing/2014/main" id="{7EDA809C-8B77-4778-9050-82BA49976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45" name="Graphic 15">
              <a:extLst>
                <a:ext uri="{FF2B5EF4-FFF2-40B4-BE49-F238E27FC236}">
                  <a16:creationId xmlns:a16="http://schemas.microsoft.com/office/drawing/2014/main" id="{592CBFFA-9E14-4482-8D59-A989BAD45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D801BD80-BE9E-4AFB-BEF4-435B40BD2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92961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16B01-F281-D45B-280F-48D33B888DF6}"/>
              </a:ext>
            </a:extLst>
          </p:cNvPr>
          <p:cNvSpPr>
            <a:spLocks noGrp="1"/>
          </p:cNvSpPr>
          <p:nvPr>
            <p:ph type="title"/>
          </p:nvPr>
        </p:nvSpPr>
        <p:spPr>
          <a:xfrm>
            <a:off x="525717" y="787069"/>
            <a:ext cx="10077557" cy="685116"/>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Dataset Overview &amp; Exploratory Data Analysis</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AF5DF50F-9039-E6B4-7C41-A0341D544E8E}"/>
              </a:ext>
            </a:extLst>
          </p:cNvPr>
          <p:cNvSpPr>
            <a:spLocks noGrp="1"/>
          </p:cNvSpPr>
          <p:nvPr>
            <p:ph idx="1"/>
          </p:nvPr>
        </p:nvSpPr>
        <p:spPr>
          <a:xfrm>
            <a:off x="525718" y="2395729"/>
            <a:ext cx="4603599" cy="3675202"/>
          </a:xfrm>
        </p:spPr>
        <p:txBody>
          <a:bodyPr>
            <a:normAutofit lnSpcReduction="10000"/>
          </a:bodyPr>
          <a:lstStyle/>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Source: USROP Public Dataset (GitHub)</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Selected Well: USROP_A3</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Total Observations: ~53,000</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Drilling Variables: ROP, WOB, RPM, SPPA, TFLO, Torque, Depth</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Key drivers: WOB &amp; RPM</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WOB shows strong positive trend with ROP</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RPM shows weak nonlinear relation</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Rest of the variables seemed non-relevant because they are highly corelated.</a:t>
            </a:r>
            <a:endParaRPr lang="en-US" dirty="0"/>
          </a:p>
        </p:txBody>
      </p:sp>
      <p:pic>
        <p:nvPicPr>
          <p:cNvPr id="5" name="Picture 4">
            <a:extLst>
              <a:ext uri="{FF2B5EF4-FFF2-40B4-BE49-F238E27FC236}">
                <a16:creationId xmlns:a16="http://schemas.microsoft.com/office/drawing/2014/main" id="{CF3DE262-C79A-6019-2664-1FC407CFDF24}"/>
              </a:ext>
            </a:extLst>
          </p:cNvPr>
          <p:cNvPicPr>
            <a:picLocks noChangeAspect="1"/>
          </p:cNvPicPr>
          <p:nvPr/>
        </p:nvPicPr>
        <p:blipFill>
          <a:blip r:embed="rId2"/>
          <a:stretch>
            <a:fillRect/>
          </a:stretch>
        </p:blipFill>
        <p:spPr>
          <a:xfrm>
            <a:off x="5129317" y="1757742"/>
            <a:ext cx="6890859" cy="1919101"/>
          </a:xfrm>
          <a:prstGeom prst="rect">
            <a:avLst/>
          </a:prstGeom>
        </p:spPr>
      </p:pic>
      <p:pic>
        <p:nvPicPr>
          <p:cNvPr id="7" name="Picture 6">
            <a:extLst>
              <a:ext uri="{FF2B5EF4-FFF2-40B4-BE49-F238E27FC236}">
                <a16:creationId xmlns:a16="http://schemas.microsoft.com/office/drawing/2014/main" id="{7D3F9A4C-B4E6-6E16-C617-08C3575EBA0B}"/>
              </a:ext>
            </a:extLst>
          </p:cNvPr>
          <p:cNvPicPr>
            <a:picLocks noChangeAspect="1"/>
          </p:cNvPicPr>
          <p:nvPr/>
        </p:nvPicPr>
        <p:blipFill>
          <a:blip r:embed="rId3"/>
          <a:stretch>
            <a:fillRect/>
          </a:stretch>
        </p:blipFill>
        <p:spPr>
          <a:xfrm>
            <a:off x="8349343" y="3676843"/>
            <a:ext cx="3670833" cy="2997354"/>
          </a:xfrm>
          <a:prstGeom prst="rect">
            <a:avLst/>
          </a:prstGeom>
        </p:spPr>
      </p:pic>
      <p:pic>
        <p:nvPicPr>
          <p:cNvPr id="9" name="Picture 8">
            <a:extLst>
              <a:ext uri="{FF2B5EF4-FFF2-40B4-BE49-F238E27FC236}">
                <a16:creationId xmlns:a16="http://schemas.microsoft.com/office/drawing/2014/main" id="{EE939C19-7EE6-4B6E-8263-A62754F18EFD}"/>
              </a:ext>
            </a:extLst>
          </p:cNvPr>
          <p:cNvPicPr>
            <a:picLocks noChangeAspect="1"/>
          </p:cNvPicPr>
          <p:nvPr/>
        </p:nvPicPr>
        <p:blipFill>
          <a:blip r:embed="rId4"/>
          <a:stretch>
            <a:fillRect/>
          </a:stretch>
        </p:blipFill>
        <p:spPr>
          <a:xfrm>
            <a:off x="5129317" y="3705419"/>
            <a:ext cx="3220025" cy="2940201"/>
          </a:xfrm>
          <a:prstGeom prst="rect">
            <a:avLst/>
          </a:prstGeom>
        </p:spPr>
      </p:pic>
    </p:spTree>
    <p:extLst>
      <p:ext uri="{BB962C8B-B14F-4D97-AF65-F5344CB8AC3E}">
        <p14:creationId xmlns:p14="http://schemas.microsoft.com/office/powerpoint/2010/main" val="1835955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2656AC96-91D3-D93E-CB04-5350FBBDC81C}"/>
              </a:ext>
            </a:extLst>
          </p:cNvPr>
          <p:cNvSpPr>
            <a:spLocks noGrp="1"/>
          </p:cNvSpPr>
          <p:nvPr>
            <p:ph type="title"/>
          </p:nvPr>
        </p:nvSpPr>
        <p:spPr>
          <a:xfrm>
            <a:off x="525717" y="787068"/>
            <a:ext cx="5566263" cy="1455091"/>
          </a:xfrm>
        </p:spPr>
        <p:txBody>
          <a:bodyPr>
            <a:normAutofit/>
          </a:bodyPr>
          <a:lstStyle/>
          <a:p>
            <a:r>
              <a:rPr lang="en-US" b="1" i="0" dirty="0">
                <a:latin typeface="Calibri" panose="020F0502020204030204" pitchFamily="34" charset="0"/>
                <a:ea typeface="Calibri" panose="020F0502020204030204" pitchFamily="34" charset="0"/>
                <a:cs typeface="Calibri" panose="020F0502020204030204" pitchFamily="34" charset="0"/>
              </a:rPr>
              <a:t>Methodology: The Two Approaches</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15" name="Freeform: Shape 14">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18"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9"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0"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1"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2"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3"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 name="Rectangle 1">
            <a:extLst>
              <a:ext uri="{FF2B5EF4-FFF2-40B4-BE49-F238E27FC236}">
                <a16:creationId xmlns:a16="http://schemas.microsoft.com/office/drawing/2014/main" id="{E419C4A4-1C4A-EDBA-EB4E-C02F15BDF3A6}"/>
              </a:ext>
            </a:extLst>
          </p:cNvPr>
          <p:cNvSpPr>
            <a:spLocks noGrp="1" noChangeArrowheads="1"/>
          </p:cNvSpPr>
          <p:nvPr>
            <p:ph idx="1"/>
          </p:nvPr>
        </p:nvSpPr>
        <p:spPr bwMode="auto">
          <a:xfrm>
            <a:off x="525717" y="2796427"/>
            <a:ext cx="7230441" cy="360585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lnSpc>
                <a:spcPct val="100000"/>
              </a:lnSpc>
              <a:spcBef>
                <a:spcPct val="0"/>
              </a:spcBef>
              <a:spcAft>
                <a:spcPts val="600"/>
              </a:spcAft>
            </a:pPr>
            <a:r>
              <a:rPr lang="en-US" sz="1600" b="1" dirty="0"/>
              <a:t>Model 1 – "Log-Linear Regression" (The Data Approach)</a:t>
            </a:r>
          </a:p>
          <a:p>
            <a:pPr lvl="0" eaLnBrk="0" fontAlgn="base" hangingPunct="0">
              <a:lnSpc>
                <a:spcPct val="100000"/>
              </a:lnSpc>
              <a:spcBef>
                <a:spcPct val="0"/>
              </a:spcBef>
              <a:spcAft>
                <a:spcPts val="600"/>
              </a:spcAft>
            </a:pPr>
            <a:r>
              <a:rPr lang="en-US" sz="1600" dirty="0">
                <a:latin typeface="Calibri" panose="020F0502020204030204" pitchFamily="34" charset="0"/>
                <a:ea typeface="Calibri" panose="020F0502020204030204" pitchFamily="34" charset="0"/>
                <a:cs typeface="Calibri" panose="020F0502020204030204" pitchFamily="34" charset="0"/>
              </a:rPr>
              <a:t>This model looks at historical drilling data (53,000 rows) and finds correlations between the inputs (Weight, Speed) and the output (ROP).</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PK" sz="1600" b="1"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Key Finding</a:t>
            </a:r>
            <a:r>
              <a:rPr lang="en-US" altLang="en-PK" sz="1600" b="1" dirty="0">
                <a:latin typeface="Calibri" panose="020F0502020204030204" pitchFamily="34" charset="0"/>
                <a:ea typeface="Calibri" panose="020F0502020204030204" pitchFamily="34" charset="0"/>
                <a:cs typeface="Calibri" panose="020F0502020204030204" pitchFamily="34" charset="0"/>
              </a:rPr>
              <a:t>:</a:t>
            </a:r>
            <a:endParaRPr kumimoji="0" lang="en-US" altLang="en-PK" sz="1600" b="1"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742950" lvl="2" indent="-285750" eaLnBrk="0" fontAlgn="base" hangingPunct="0">
              <a:lnSpc>
                <a:spcPct val="100000"/>
              </a:lnSpc>
              <a:spcBef>
                <a:spcPct val="0"/>
              </a:spcBef>
              <a:spcAft>
                <a:spcPts val="600"/>
              </a:spcAft>
              <a:buFont typeface="Wingdings" panose="05000000000000000000" pitchFamily="2" charset="2"/>
              <a:buChar char="Ø"/>
            </a:pPr>
            <a:r>
              <a:rPr kumimoji="0" lang="en-US" altLang="en-PK"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Weight on Bit (WOB): Positive coefficient. More weight </a:t>
            </a:r>
            <a:r>
              <a:rPr lang="en-PK" b="1" dirty="0"/>
              <a:t>≅</a:t>
            </a:r>
            <a:r>
              <a:rPr lang="en-US" b="1" dirty="0"/>
              <a:t> </a:t>
            </a:r>
            <a:r>
              <a:rPr kumimoji="0" lang="en-US" altLang="en-PK"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Faster drilling.</a:t>
            </a:r>
          </a:p>
          <a:p>
            <a:pPr marL="742950" lvl="2" indent="-285750" eaLnBrk="0" fontAlgn="base" hangingPunct="0">
              <a:lnSpc>
                <a:spcPct val="100000"/>
              </a:lnSpc>
              <a:spcBef>
                <a:spcPct val="0"/>
              </a:spcBef>
              <a:spcAft>
                <a:spcPts val="600"/>
              </a:spcAft>
              <a:buFont typeface="Wingdings" panose="05000000000000000000" pitchFamily="2" charset="2"/>
              <a:buChar char="Ø"/>
            </a:pPr>
            <a:r>
              <a:rPr kumimoji="0" lang="en-US" altLang="en-PK"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RPM: Positive coefficient. Faster spinning </a:t>
            </a:r>
            <a:r>
              <a:rPr lang="en-PK" b="1" dirty="0"/>
              <a:t>≅</a:t>
            </a:r>
            <a:r>
              <a:rPr kumimoji="0" lang="en-US" altLang="en-PK"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 Faster drilling.</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PK" sz="160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Model Accuracy: RMSE: 7.895 m/h.</a:t>
            </a:r>
          </a:p>
          <a:p>
            <a:pPr marL="0" marR="0" lvl="0" indent="0" algn="just" defTabSz="914400" rtl="0" eaLnBrk="0" fontAlgn="base" latinLnBrk="0" hangingPunct="0">
              <a:lnSpc>
                <a:spcPct val="100000"/>
              </a:lnSpc>
              <a:spcBef>
                <a:spcPct val="0"/>
              </a:spcBef>
              <a:spcAft>
                <a:spcPts val="600"/>
              </a:spcAft>
              <a:buClrTx/>
              <a:buSzTx/>
              <a:buFontTx/>
              <a:buNone/>
              <a:tabLst/>
            </a:pPr>
            <a:r>
              <a:rPr kumimoji="0" lang="en-US" altLang="en-PK" sz="1600" b="1"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Why this is a potential problem: </a:t>
            </a:r>
            <a:r>
              <a:rPr kumimoji="0" lang="en-US" altLang="en-PK" sz="160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The model assumes that if you keep adding weight, the speed will keep increasing forever. It does not account for the physical "saturation point" where the rock cannot break any faster. </a:t>
            </a:r>
            <a:endParaRPr kumimoji="0" lang="en-PK" altLang="en-PK" sz="1300" i="0" u="none" strike="noStrike" cap="none" normalizeH="0" baseline="0" dirty="0">
              <a:ln>
                <a:noFill/>
              </a:ln>
              <a:effectLst/>
              <a:latin typeface="Arial" panose="020B0604020202020204" pitchFamily="34" charset="0"/>
            </a:endParaRPr>
          </a:p>
        </p:txBody>
      </p:sp>
      <p:pic>
        <p:nvPicPr>
          <p:cNvPr id="6" name="Picture 5" descr="A hand holding a magnifying glass over a stack of papers&#10;&#10;AI-generated content may be incorrect.">
            <a:extLst>
              <a:ext uri="{FF2B5EF4-FFF2-40B4-BE49-F238E27FC236}">
                <a16:creationId xmlns:a16="http://schemas.microsoft.com/office/drawing/2014/main" id="{92913369-67DC-E3DE-888E-82E5509E9A38}"/>
              </a:ext>
            </a:extLst>
          </p:cNvPr>
          <p:cNvPicPr>
            <a:picLocks noChangeAspect="1"/>
          </p:cNvPicPr>
          <p:nvPr/>
        </p:nvPicPr>
        <p:blipFill>
          <a:blip r:embed="rId2"/>
          <a:srcRect t="22022" b="22257"/>
          <a:stretch>
            <a:fillRect/>
          </a:stretch>
        </p:blipFill>
        <p:spPr>
          <a:xfrm>
            <a:off x="7979151" y="2052637"/>
            <a:ext cx="3989856" cy="3071880"/>
          </a:xfrm>
          <a:prstGeom prst="rect">
            <a:avLst/>
          </a:prstGeom>
        </p:spPr>
      </p:pic>
      <p:sp>
        <p:nvSpPr>
          <p:cNvPr id="25" name="Freeform: Shape 24">
            <a:extLst>
              <a:ext uri="{FF2B5EF4-FFF2-40B4-BE49-F238E27FC236}">
                <a16:creationId xmlns:a16="http://schemas.microsoft.com/office/drawing/2014/main" id="{D5B4F0F5-BE58-4EC0-B650-A71A07437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25066"/>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7" name="Group 26">
            <a:extLst>
              <a:ext uri="{FF2B5EF4-FFF2-40B4-BE49-F238E27FC236}">
                <a16:creationId xmlns:a16="http://schemas.microsoft.com/office/drawing/2014/main" id="{E700C1F5-B637-45FE-96CC-270D263A59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8" name="Freeform: Shape 27">
              <a:extLst>
                <a:ext uri="{FF2B5EF4-FFF2-40B4-BE49-F238E27FC236}">
                  <a16:creationId xmlns:a16="http://schemas.microsoft.com/office/drawing/2014/main" id="{83DA22C9-3830-4323-9087-6D7C1E6AA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9" name="Freeform: Shape 28">
              <a:extLst>
                <a:ext uri="{FF2B5EF4-FFF2-40B4-BE49-F238E27FC236}">
                  <a16:creationId xmlns:a16="http://schemas.microsoft.com/office/drawing/2014/main" id="{A5AC4DA9-FD16-4055-8D2D-95D615C03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0" name="Freeform: Shape 29">
              <a:extLst>
                <a:ext uri="{FF2B5EF4-FFF2-40B4-BE49-F238E27FC236}">
                  <a16:creationId xmlns:a16="http://schemas.microsoft.com/office/drawing/2014/main" id="{8BA7D58E-9AB5-4B54-A635-2E86BEC7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1" name="Graphic 12">
              <a:extLst>
                <a:ext uri="{FF2B5EF4-FFF2-40B4-BE49-F238E27FC236}">
                  <a16:creationId xmlns:a16="http://schemas.microsoft.com/office/drawing/2014/main" id="{B7D72779-BBD2-4D64-B6B1-E052E227E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32" name="Graphic 15">
              <a:extLst>
                <a:ext uri="{FF2B5EF4-FFF2-40B4-BE49-F238E27FC236}">
                  <a16:creationId xmlns:a16="http://schemas.microsoft.com/office/drawing/2014/main" id="{569BD34C-BFEF-4FB1-A094-2D9E687CD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3" name="Graphic 15">
              <a:extLst>
                <a:ext uri="{FF2B5EF4-FFF2-40B4-BE49-F238E27FC236}">
                  <a16:creationId xmlns:a16="http://schemas.microsoft.com/office/drawing/2014/main" id="{DC258A66-ED52-4FA3-96CE-7932E91F5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EC6A48C-21EF-4485-9836-044550003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36738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9C67AA5-33F6-9973-0334-D83096D3BD4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2BDD5E4-45B8-8B9B-8F50-1682D3927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DEECE3E2-4967-C12F-E935-D8EAA1E72EAE}"/>
              </a:ext>
            </a:extLst>
          </p:cNvPr>
          <p:cNvSpPr>
            <a:spLocks noGrp="1"/>
          </p:cNvSpPr>
          <p:nvPr>
            <p:ph type="title"/>
          </p:nvPr>
        </p:nvSpPr>
        <p:spPr>
          <a:xfrm>
            <a:off x="525717" y="787068"/>
            <a:ext cx="5566263" cy="1455091"/>
          </a:xfrm>
        </p:spPr>
        <p:txBody>
          <a:bodyPr>
            <a:normAutofit/>
          </a:bodyPr>
          <a:lstStyle/>
          <a:p>
            <a:r>
              <a:rPr lang="en-US" b="1" i="0" dirty="0">
                <a:latin typeface="Calibri" panose="020F0502020204030204" pitchFamily="34" charset="0"/>
                <a:ea typeface="Calibri" panose="020F0502020204030204" pitchFamily="34" charset="0"/>
                <a:cs typeface="Calibri" panose="020F0502020204030204" pitchFamily="34" charset="0"/>
              </a:rPr>
              <a:t>Methodology: The Two Approaches</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15" name="Freeform: Shape 14">
            <a:extLst>
              <a:ext uri="{FF2B5EF4-FFF2-40B4-BE49-F238E27FC236}">
                <a16:creationId xmlns:a16="http://schemas.microsoft.com/office/drawing/2014/main" id="{A5276DB0-3B89-359E-5001-434FD41C4F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aphic 78">
            <a:extLst>
              <a:ext uri="{FF2B5EF4-FFF2-40B4-BE49-F238E27FC236}">
                <a16:creationId xmlns:a16="http://schemas.microsoft.com/office/drawing/2014/main" id="{A4EAF8AC-D1F6-12EC-0BC2-746758B7F0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18" name="Graphic 78">
              <a:extLst>
                <a:ext uri="{FF2B5EF4-FFF2-40B4-BE49-F238E27FC236}">
                  <a16:creationId xmlns:a16="http://schemas.microsoft.com/office/drawing/2014/main" id="{889AF3B6-29BF-7EAE-8052-C8905CBE6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9" name="Graphic 78">
              <a:extLst>
                <a:ext uri="{FF2B5EF4-FFF2-40B4-BE49-F238E27FC236}">
                  <a16:creationId xmlns:a16="http://schemas.microsoft.com/office/drawing/2014/main" id="{66C81C60-0406-AB10-73E5-E3EECF6F91E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0" name="Graphic 78">
                <a:extLst>
                  <a:ext uri="{FF2B5EF4-FFF2-40B4-BE49-F238E27FC236}">
                    <a16:creationId xmlns:a16="http://schemas.microsoft.com/office/drawing/2014/main" id="{E7285C36-5F42-B0FC-37E4-6309A7F5E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1" name="Graphic 78">
                <a:extLst>
                  <a:ext uri="{FF2B5EF4-FFF2-40B4-BE49-F238E27FC236}">
                    <a16:creationId xmlns:a16="http://schemas.microsoft.com/office/drawing/2014/main" id="{1946B826-AF4D-0AFD-8B5C-FA8BD1868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2" name="Graphic 78">
                <a:extLst>
                  <a:ext uri="{FF2B5EF4-FFF2-40B4-BE49-F238E27FC236}">
                    <a16:creationId xmlns:a16="http://schemas.microsoft.com/office/drawing/2014/main" id="{64A0C388-AB79-AF71-2684-99003763B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3" name="Graphic 78">
                <a:extLst>
                  <a:ext uri="{FF2B5EF4-FFF2-40B4-BE49-F238E27FC236}">
                    <a16:creationId xmlns:a16="http://schemas.microsoft.com/office/drawing/2014/main" id="{415BDB27-A3F9-BCB1-9A69-1FC6E5E407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 name="Rectangle 1">
            <a:extLst>
              <a:ext uri="{FF2B5EF4-FFF2-40B4-BE49-F238E27FC236}">
                <a16:creationId xmlns:a16="http://schemas.microsoft.com/office/drawing/2014/main" id="{5AE08ACC-C80A-47F9-6012-33EAB89BDEF1}"/>
              </a:ext>
            </a:extLst>
          </p:cNvPr>
          <p:cNvSpPr>
            <a:spLocks noGrp="1" noChangeArrowheads="1"/>
          </p:cNvSpPr>
          <p:nvPr>
            <p:ph idx="1"/>
          </p:nvPr>
        </p:nvSpPr>
        <p:spPr bwMode="auto">
          <a:xfrm>
            <a:off x="525717" y="2796427"/>
            <a:ext cx="7230441" cy="360585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lnSpc>
                <a:spcPct val="100000"/>
              </a:lnSpc>
              <a:spcBef>
                <a:spcPct val="0"/>
              </a:spcBef>
              <a:spcAft>
                <a:spcPts val="600"/>
              </a:spcAft>
            </a:pPr>
            <a:r>
              <a:rPr lang="en-US" sz="1600" b="1" dirty="0"/>
              <a:t>Model 2 – "Bingham Model" (The Physics Approach)</a:t>
            </a:r>
          </a:p>
          <a:p>
            <a:pPr algn="just" eaLnBrk="0" fontAlgn="base" hangingPunct="0">
              <a:lnSpc>
                <a:spcPct val="100000"/>
              </a:lnSpc>
              <a:spcBef>
                <a:spcPct val="0"/>
              </a:spcBef>
              <a:spcAft>
                <a:spcPts val="600"/>
              </a:spcAft>
            </a:pPr>
            <a:r>
              <a:rPr lang="en-US" sz="1600" dirty="0">
                <a:latin typeface="Calibri" panose="020F0502020204030204" pitchFamily="34" charset="0"/>
                <a:ea typeface="Calibri" panose="020F0502020204030204" pitchFamily="34" charset="0"/>
                <a:cs typeface="Calibri" panose="020F0502020204030204" pitchFamily="34" charset="0"/>
              </a:rPr>
              <a:t>Instead of relying only on patterns in the data, this model includes Engineering Domain Knowledge. It uses a specific formula that accounts for the mechanical efficiency of the drill bit.</a:t>
            </a:r>
          </a:p>
          <a:p>
            <a:pPr eaLnBrk="0" fontAlgn="base" hangingPunct="0">
              <a:lnSpc>
                <a:spcPct val="100000"/>
              </a:lnSpc>
              <a:spcBef>
                <a:spcPct val="0"/>
              </a:spcBef>
              <a:spcAft>
                <a:spcPts val="600"/>
              </a:spcAft>
            </a:pPr>
            <a:r>
              <a:rPr kumimoji="0" lang="en-US" altLang="en-PK" sz="1600" b="1"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Key Finding:</a:t>
            </a:r>
          </a:p>
          <a:p>
            <a:pPr marL="742950" lvl="2" indent="-285750" eaLnBrk="0" fontAlgn="base" hangingPunct="0">
              <a:lnSpc>
                <a:spcPct val="100000"/>
              </a:lnSpc>
              <a:spcBef>
                <a:spcPct val="0"/>
              </a:spcBef>
              <a:spcAft>
                <a:spcPts val="600"/>
              </a:spcAft>
              <a:buFont typeface="Wingdings" panose="05000000000000000000" pitchFamily="2" charset="2"/>
              <a:buChar char="Ø"/>
            </a:pPr>
            <a:r>
              <a:rPr kumimoji="0" lang="en-US" altLang="en-PK"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Coefficient 'a' &lt; 1: The model estimated a parameter of 0.21, which mathematically proves diminishing returns.</a:t>
            </a:r>
          </a:p>
          <a:p>
            <a:pPr marL="742950" lvl="2" indent="-285750" eaLnBrk="0" fontAlgn="base" hangingPunct="0">
              <a:lnSpc>
                <a:spcPct val="100000"/>
              </a:lnSpc>
              <a:spcBef>
                <a:spcPct val="0"/>
              </a:spcBef>
              <a:spcAft>
                <a:spcPts val="600"/>
              </a:spcAft>
              <a:buFont typeface="Wingdings" panose="05000000000000000000" pitchFamily="2" charset="2"/>
              <a:buChar char="Ø"/>
            </a:pPr>
            <a:r>
              <a:rPr kumimoji="0" lang="en-US" altLang="en-PK"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Interpretation: This means that doubling the weight does not double the speed.</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PK" sz="160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Model Accuracy: 7.821 m/h (Better than the Liner Regression Model).</a:t>
            </a:r>
          </a:p>
          <a:p>
            <a:pPr lvl="0" algn="just" eaLnBrk="0" fontAlgn="base" hangingPunct="0">
              <a:lnSpc>
                <a:spcPct val="100000"/>
              </a:lnSpc>
              <a:spcBef>
                <a:spcPct val="0"/>
              </a:spcBef>
              <a:spcAft>
                <a:spcPts val="600"/>
              </a:spcAft>
            </a:pPr>
            <a:r>
              <a:rPr lang="en-US" altLang="en-PK" sz="1600" b="1" dirty="0">
                <a:latin typeface="Calibri" panose="020F0502020204030204" pitchFamily="34" charset="0"/>
                <a:ea typeface="Calibri" panose="020F0502020204030204" pitchFamily="34" charset="0"/>
                <a:cs typeface="Calibri" panose="020F0502020204030204" pitchFamily="34" charset="0"/>
              </a:rPr>
              <a:t>Interpretation</a:t>
            </a:r>
            <a:r>
              <a:rPr kumimoji="0" lang="en-US" altLang="en-PK" sz="1600" b="1"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 </a:t>
            </a:r>
            <a:r>
              <a:rPr kumimoji="0" lang="en-US" altLang="en-PK" sz="160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This model aligns with physical reality: using the drill bit too hard eventually stops helping.</a:t>
            </a:r>
            <a:r>
              <a:rPr lang="en-US" altLang="en-PK" sz="1400" dirty="0">
                <a:latin typeface="Calibri" panose="020F0502020204030204" pitchFamily="34" charset="0"/>
                <a:ea typeface="Calibri" panose="020F0502020204030204" pitchFamily="34" charset="0"/>
                <a:cs typeface="Calibri" panose="020F0502020204030204" pitchFamily="34" charset="0"/>
              </a:rPr>
              <a:t> : p</a:t>
            </a:r>
            <a:endParaRPr kumimoji="0" lang="en-PK" altLang="en-PK" sz="1300" i="0" u="none" strike="noStrike" cap="none" normalizeH="0" baseline="0" dirty="0">
              <a:ln>
                <a:noFill/>
              </a:ln>
              <a:effectLst/>
              <a:latin typeface="Arial" panose="020B0604020202020204" pitchFamily="34" charset="0"/>
            </a:endParaRPr>
          </a:p>
        </p:txBody>
      </p:sp>
      <p:sp>
        <p:nvSpPr>
          <p:cNvPr id="25" name="Freeform: Shape 24">
            <a:extLst>
              <a:ext uri="{FF2B5EF4-FFF2-40B4-BE49-F238E27FC236}">
                <a16:creationId xmlns:a16="http://schemas.microsoft.com/office/drawing/2014/main" id="{DC375588-E9C6-838A-6549-D388983E72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25066"/>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7" name="Group 26">
            <a:extLst>
              <a:ext uri="{FF2B5EF4-FFF2-40B4-BE49-F238E27FC236}">
                <a16:creationId xmlns:a16="http://schemas.microsoft.com/office/drawing/2014/main" id="{FC61E47C-88D6-799A-8821-021BDF1B78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8" name="Freeform: Shape 27">
              <a:extLst>
                <a:ext uri="{FF2B5EF4-FFF2-40B4-BE49-F238E27FC236}">
                  <a16:creationId xmlns:a16="http://schemas.microsoft.com/office/drawing/2014/main" id="{E50CE89A-F3BC-70C0-7413-9DAA9D999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9" name="Freeform: Shape 28">
              <a:extLst>
                <a:ext uri="{FF2B5EF4-FFF2-40B4-BE49-F238E27FC236}">
                  <a16:creationId xmlns:a16="http://schemas.microsoft.com/office/drawing/2014/main" id="{21C6B39E-0287-A4EB-4148-E167CE933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0" name="Freeform: Shape 29">
              <a:extLst>
                <a:ext uri="{FF2B5EF4-FFF2-40B4-BE49-F238E27FC236}">
                  <a16:creationId xmlns:a16="http://schemas.microsoft.com/office/drawing/2014/main" id="{9673AD4D-F628-110C-7683-8B451B65B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1" name="Graphic 12">
              <a:extLst>
                <a:ext uri="{FF2B5EF4-FFF2-40B4-BE49-F238E27FC236}">
                  <a16:creationId xmlns:a16="http://schemas.microsoft.com/office/drawing/2014/main" id="{1F9D07D1-45B9-1A1F-0BFD-A885B8B30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32" name="Graphic 15">
              <a:extLst>
                <a:ext uri="{FF2B5EF4-FFF2-40B4-BE49-F238E27FC236}">
                  <a16:creationId xmlns:a16="http://schemas.microsoft.com/office/drawing/2014/main" id="{852A6FC5-A6ED-2CF7-4146-8B381F54C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3" name="Graphic 15">
              <a:extLst>
                <a:ext uri="{FF2B5EF4-FFF2-40B4-BE49-F238E27FC236}">
                  <a16:creationId xmlns:a16="http://schemas.microsoft.com/office/drawing/2014/main" id="{40AD3067-0F64-2D3E-EC68-1BC505379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A80ADD8-7568-E9B3-A800-36AF39EDE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descr="A blueprints and rolls of paper&#10;&#10;AI-generated content may be incorrect.">
            <a:extLst>
              <a:ext uri="{FF2B5EF4-FFF2-40B4-BE49-F238E27FC236}">
                <a16:creationId xmlns:a16="http://schemas.microsoft.com/office/drawing/2014/main" id="{B94801CE-7BDB-5FFD-84FE-8883DC400E77}"/>
              </a:ext>
            </a:extLst>
          </p:cNvPr>
          <p:cNvPicPr>
            <a:picLocks noChangeAspect="1"/>
          </p:cNvPicPr>
          <p:nvPr/>
        </p:nvPicPr>
        <p:blipFill>
          <a:blip r:embed="rId2">
            <a:extLst>
              <a:ext uri="{28A0092B-C50C-407E-A947-70E740481C1C}">
                <a14:useLocalDpi xmlns:a14="http://schemas.microsoft.com/office/drawing/2010/main" val="0"/>
              </a:ext>
            </a:extLst>
          </a:blip>
          <a:srcRect t="5565" r="1" b="6565"/>
          <a:stretch>
            <a:fillRect/>
          </a:stretch>
        </p:blipFill>
        <p:spPr>
          <a:xfrm>
            <a:off x="7816186" y="1806319"/>
            <a:ext cx="4197186" cy="3370508"/>
          </a:xfrm>
          <a:prstGeom prst="rect">
            <a:avLst/>
          </a:prstGeom>
        </p:spPr>
      </p:pic>
    </p:spTree>
    <p:extLst>
      <p:ext uri="{BB962C8B-B14F-4D97-AF65-F5344CB8AC3E}">
        <p14:creationId xmlns:p14="http://schemas.microsoft.com/office/powerpoint/2010/main" val="465759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6ECE-6A09-E893-8A19-1FF707132A3C}"/>
              </a:ext>
            </a:extLst>
          </p:cNvPr>
          <p:cNvSpPr>
            <a:spLocks noGrp="1"/>
          </p:cNvSpPr>
          <p:nvPr>
            <p:ph type="title"/>
          </p:nvPr>
        </p:nvSpPr>
        <p:spPr>
          <a:xfrm>
            <a:off x="525717" y="787069"/>
            <a:ext cx="10077557" cy="666828"/>
          </a:xfrm>
        </p:spPr>
        <p:txBody>
          <a:bodyPr>
            <a:normAutofit/>
          </a:bodyPr>
          <a:lstStyle/>
          <a:p>
            <a:r>
              <a:rPr lang="en-US" b="1" i="0" dirty="0">
                <a:latin typeface="Calibri" panose="020F0502020204030204" pitchFamily="34" charset="0"/>
                <a:ea typeface="Calibri" panose="020F0502020204030204" pitchFamily="34" charset="0"/>
                <a:cs typeface="Calibri" panose="020F0502020204030204" pitchFamily="34" charset="0"/>
              </a:rPr>
              <a:t>Comparison of Both Models</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091DC98D-BCC8-0B67-96BF-AD8477DC3428}"/>
              </a:ext>
            </a:extLst>
          </p:cNvPr>
          <p:cNvSpPr>
            <a:spLocks noGrp="1" noChangeArrowheads="1"/>
          </p:cNvSpPr>
          <p:nvPr>
            <p:ph idx="1"/>
          </p:nvPr>
        </p:nvSpPr>
        <p:spPr bwMode="auto">
          <a:xfrm>
            <a:off x="525717" y="1682004"/>
            <a:ext cx="5836386" cy="4881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Similarities in the results:</a:t>
            </a:r>
            <a:r>
              <a:rPr lang="en-US" sz="1800" dirty="0">
                <a:latin typeface="Calibri" panose="020F0502020204030204" pitchFamily="34" charset="0"/>
                <a:ea typeface="Calibri" panose="020F0502020204030204" pitchFamily="34" charset="0"/>
                <a:cs typeface="Calibri" panose="020F0502020204030204" pitchFamily="34" charset="0"/>
              </a:rPr>
              <a:t> Both models identified Weight on Bit as the main driver of speed. Because the data had a strong signal, both models performed well (RMSE ~7.8).</a:t>
            </a:r>
          </a:p>
          <a:p>
            <a:r>
              <a:rPr lang="en-US" sz="1800" b="1" dirty="0"/>
              <a:t>Why the Physics Model is better:</a:t>
            </a:r>
            <a:endParaRPr lang="en-US" sz="1800" dirty="0"/>
          </a:p>
          <a:p>
            <a:pPr marL="285750" indent="-285750" algn="just">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The Statistical Model</a:t>
            </a:r>
            <a:r>
              <a:rPr lang="en-US" sz="1800" dirty="0">
                <a:latin typeface="Calibri" panose="020F0502020204030204" pitchFamily="34" charset="0"/>
                <a:ea typeface="Calibri" panose="020F0502020204030204" pitchFamily="34" charset="0"/>
                <a:cs typeface="Calibri" panose="020F0502020204030204" pitchFamily="34" charset="0"/>
              </a:rPr>
              <a:t> blindly followed the trend, risking over-prediction at high weights.</a:t>
            </a:r>
          </a:p>
          <a:p>
            <a:pPr marL="285750" indent="-285750" algn="just">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The Physics Model</a:t>
            </a:r>
            <a:r>
              <a:rPr lang="en-US" sz="1800" dirty="0">
                <a:latin typeface="Calibri" panose="020F0502020204030204" pitchFamily="34" charset="0"/>
                <a:ea typeface="Calibri" panose="020F0502020204030204" pitchFamily="34" charset="0"/>
                <a:cs typeface="Calibri" panose="020F0502020204030204" pitchFamily="34" charset="0"/>
              </a:rPr>
              <a:t> included a "structure" (the formula) that acted like a guardrail, preventing unrealistic predictions.</a:t>
            </a:r>
          </a:p>
          <a:p>
            <a:pPr lvl="0" eaLnBrk="0" fontAlgn="base" hangingPunct="0">
              <a:lnSpc>
                <a:spcPct val="100000"/>
              </a:lnSpc>
              <a:spcBef>
                <a:spcPct val="0"/>
              </a:spcBef>
              <a:spcAft>
                <a:spcPct val="0"/>
              </a:spcAft>
            </a:pPr>
            <a:endParaRPr kumimoji="0" lang="en-US" altLang="en-PK"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gn="just" eaLnBrk="0" fontAlgn="base" hangingPunct="0">
              <a:lnSpc>
                <a:spcPct val="100000"/>
              </a:lnSpc>
              <a:spcBef>
                <a:spcPct val="0"/>
              </a:spcBef>
              <a:spcAft>
                <a:spcPct val="0"/>
              </a:spcAft>
            </a:pPr>
            <a:r>
              <a:rPr lang="en-US" sz="1800" b="1" dirty="0">
                <a:latin typeface="Calibri" panose="020F0502020204030204" pitchFamily="34" charset="0"/>
                <a:ea typeface="Calibri" panose="020F0502020204030204" pitchFamily="34" charset="0"/>
                <a:cs typeface="Calibri" panose="020F0502020204030204" pitchFamily="34" charset="0"/>
              </a:rPr>
              <a:t>Which model should the engineers rely on?</a:t>
            </a:r>
            <a:r>
              <a:rPr lang="en-US" sz="1800" dirty="0">
                <a:latin typeface="Calibri" panose="020F0502020204030204" pitchFamily="34" charset="0"/>
                <a:ea typeface="Calibri" panose="020F0502020204030204" pitchFamily="34" charset="0"/>
                <a:cs typeface="Calibri" panose="020F0502020204030204" pitchFamily="34" charset="0"/>
              </a:rPr>
              <a:t> </a:t>
            </a:r>
          </a:p>
          <a:p>
            <a:pPr algn="just" eaLnBrk="0" fontAlgn="base" hangingPunct="0">
              <a:lnSpc>
                <a:spcPct val="100000"/>
              </a:lnSpc>
              <a:spcBef>
                <a:spcPct val="0"/>
              </a:spcBef>
              <a:spcAft>
                <a:spcPct val="0"/>
              </a:spcAft>
            </a:pPr>
            <a:r>
              <a:rPr lang="en-US" sz="1800" dirty="0">
                <a:latin typeface="Calibri" panose="020F0502020204030204" pitchFamily="34" charset="0"/>
                <a:ea typeface="Calibri" panose="020F0502020204030204" pitchFamily="34" charset="0"/>
                <a:cs typeface="Calibri" panose="020F0502020204030204" pitchFamily="34" charset="0"/>
              </a:rPr>
              <a:t>The </a:t>
            </a:r>
            <a:r>
              <a:rPr lang="en-US" sz="1800" b="1" dirty="0">
                <a:latin typeface="Calibri" panose="020F0502020204030204" pitchFamily="34" charset="0"/>
                <a:ea typeface="Calibri" panose="020F0502020204030204" pitchFamily="34" charset="0"/>
                <a:cs typeface="Calibri" panose="020F0502020204030204" pitchFamily="34" charset="0"/>
              </a:rPr>
              <a:t>Physics-Based Bingham Model, </a:t>
            </a:r>
            <a:r>
              <a:rPr kumimoji="0" lang="en-US" altLang="en-PK"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because </a:t>
            </a:r>
            <a:r>
              <a:rPr lang="en-US" sz="1800" dirty="0">
                <a:latin typeface="Calibri" panose="020F0502020204030204" pitchFamily="34" charset="0"/>
                <a:ea typeface="Calibri" panose="020F0502020204030204" pitchFamily="34" charset="0"/>
                <a:cs typeface="Calibri" panose="020F0502020204030204" pitchFamily="34" charset="0"/>
              </a:rPr>
              <a:t>It is not just accurate; it is </a:t>
            </a:r>
            <a:r>
              <a:rPr lang="en-US" sz="1800" b="1" dirty="0">
                <a:latin typeface="Calibri" panose="020F0502020204030204" pitchFamily="34" charset="0"/>
                <a:ea typeface="Calibri" panose="020F0502020204030204" pitchFamily="34" charset="0"/>
                <a:cs typeface="Calibri" panose="020F0502020204030204" pitchFamily="34" charset="0"/>
              </a:rPr>
              <a:t>safe</a:t>
            </a:r>
            <a:r>
              <a:rPr lang="en-US" sz="1800" dirty="0">
                <a:latin typeface="Calibri" panose="020F0502020204030204" pitchFamily="34" charset="0"/>
                <a:ea typeface="Calibri" panose="020F0502020204030204" pitchFamily="34" charset="0"/>
                <a:cs typeface="Calibri" panose="020F0502020204030204" pitchFamily="34" charset="0"/>
              </a:rPr>
              <a:t>. It respects the physical limits of the machinery, whereas the statistical model might recommend dangerous settings just to chase a higher predicted speed.</a:t>
            </a:r>
            <a:endParaRPr kumimoji="0" lang="en-PK" altLang="en-PK"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691D47D-76F2-BF7F-6868-48E6827117CA}"/>
              </a:ext>
            </a:extLst>
          </p:cNvPr>
          <p:cNvPicPr>
            <a:picLocks noChangeAspect="1"/>
          </p:cNvPicPr>
          <p:nvPr/>
        </p:nvPicPr>
        <p:blipFill>
          <a:blip r:embed="rId2"/>
          <a:stretch>
            <a:fillRect/>
          </a:stretch>
        </p:blipFill>
        <p:spPr>
          <a:xfrm>
            <a:off x="6584662" y="1682004"/>
            <a:ext cx="5607338" cy="3683189"/>
          </a:xfrm>
          <a:prstGeom prst="rect">
            <a:avLst/>
          </a:prstGeom>
        </p:spPr>
      </p:pic>
    </p:spTree>
    <p:extLst>
      <p:ext uri="{BB962C8B-B14F-4D97-AF65-F5344CB8AC3E}">
        <p14:creationId xmlns:p14="http://schemas.microsoft.com/office/powerpoint/2010/main" val="40299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129" name="Rectangle 4128">
            <a:extLst>
              <a:ext uri="{FF2B5EF4-FFF2-40B4-BE49-F238E27FC236}">
                <a16:creationId xmlns:a16="http://schemas.microsoft.com/office/drawing/2014/main" id="{142D98E1-37D2-4470-BF74-845E89795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36CC6845-34C5-1D6F-94BA-1F6EEE8BB8B4}"/>
              </a:ext>
            </a:extLst>
          </p:cNvPr>
          <p:cNvSpPr>
            <a:spLocks noGrp="1"/>
          </p:cNvSpPr>
          <p:nvPr>
            <p:ph type="title"/>
          </p:nvPr>
        </p:nvSpPr>
        <p:spPr>
          <a:xfrm>
            <a:off x="525718" y="1114691"/>
            <a:ext cx="5512288" cy="1085313"/>
          </a:xfrm>
        </p:spPr>
        <p:txBody>
          <a:bodyPr anchor="t">
            <a:normAutofit fontScale="90000"/>
          </a:bodyPr>
          <a:lstStyle/>
          <a:p>
            <a:r>
              <a:rPr lang="en-US" b="1" i="0" dirty="0">
                <a:latin typeface="Calibri" panose="020F0502020204030204" pitchFamily="34" charset="0"/>
                <a:ea typeface="Calibri" panose="020F0502020204030204" pitchFamily="34" charset="0"/>
                <a:cs typeface="Calibri" panose="020F0502020204030204" pitchFamily="34" charset="0"/>
              </a:rPr>
              <a:t>Conclusion - The Final Takeaway</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4131" name="Freeform: Shape 4130">
            <a:extLst>
              <a:ext uri="{FF2B5EF4-FFF2-40B4-BE49-F238E27FC236}">
                <a16:creationId xmlns:a16="http://schemas.microsoft.com/office/drawing/2014/main" id="{E9BFB270-A887-4B62-B243-50F92509A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133" name="Graphic 78">
            <a:extLst>
              <a:ext uri="{FF2B5EF4-FFF2-40B4-BE49-F238E27FC236}">
                <a16:creationId xmlns:a16="http://schemas.microsoft.com/office/drawing/2014/main" id="{2EDC2578-BDB0-4118-975D-CFCE02823D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63724" y="776109"/>
            <a:ext cx="972241" cy="45718"/>
            <a:chOff x="4886325" y="3371754"/>
            <a:chExt cx="2418492" cy="113728"/>
          </a:xfrm>
          <a:solidFill>
            <a:schemeClr val="accent1"/>
          </a:solidFill>
        </p:grpSpPr>
        <p:sp>
          <p:nvSpPr>
            <p:cNvPr id="4134" name="Graphic 78">
              <a:extLst>
                <a:ext uri="{FF2B5EF4-FFF2-40B4-BE49-F238E27FC236}">
                  <a16:creationId xmlns:a16="http://schemas.microsoft.com/office/drawing/2014/main" id="{FB6536F0-4A9C-46C9-96E9-22CBB33E6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135" name="Graphic 78">
              <a:extLst>
                <a:ext uri="{FF2B5EF4-FFF2-40B4-BE49-F238E27FC236}">
                  <a16:creationId xmlns:a16="http://schemas.microsoft.com/office/drawing/2014/main" id="{DFD6A33A-F889-42D7-ADC2-DD9B88DF060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136" name="Graphic 78">
                <a:extLst>
                  <a:ext uri="{FF2B5EF4-FFF2-40B4-BE49-F238E27FC236}">
                    <a16:creationId xmlns:a16="http://schemas.microsoft.com/office/drawing/2014/main" id="{C375AFD7-9E86-4D19-B86E-C936D33B0D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137" name="Graphic 78">
                <a:extLst>
                  <a:ext uri="{FF2B5EF4-FFF2-40B4-BE49-F238E27FC236}">
                    <a16:creationId xmlns:a16="http://schemas.microsoft.com/office/drawing/2014/main" id="{4102C78E-31A2-4DB3-8790-415EB0B48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138" name="Graphic 78">
                <a:extLst>
                  <a:ext uri="{FF2B5EF4-FFF2-40B4-BE49-F238E27FC236}">
                    <a16:creationId xmlns:a16="http://schemas.microsoft.com/office/drawing/2014/main" id="{4F3E144D-8167-438A-B67F-50F5D9C0C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139" name="Graphic 78">
                <a:extLst>
                  <a:ext uri="{FF2B5EF4-FFF2-40B4-BE49-F238E27FC236}">
                    <a16:creationId xmlns:a16="http://schemas.microsoft.com/office/drawing/2014/main" id="{4BE2135F-02C1-449F-B195-232E9AFD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pic>
        <p:nvPicPr>
          <p:cNvPr id="4" name="Picture 3">
            <a:extLst>
              <a:ext uri="{FF2B5EF4-FFF2-40B4-BE49-F238E27FC236}">
                <a16:creationId xmlns:a16="http://schemas.microsoft.com/office/drawing/2014/main" id="{007C402A-19BA-C690-5649-19B781D42189}"/>
              </a:ext>
            </a:extLst>
          </p:cNvPr>
          <p:cNvPicPr>
            <a:picLocks noChangeAspect="1"/>
          </p:cNvPicPr>
          <p:nvPr/>
        </p:nvPicPr>
        <p:blipFill>
          <a:blip r:embed="rId2"/>
          <a:srcRect t="3861" r="2" b="2"/>
          <a:stretch>
            <a:fillRect/>
          </a:stretch>
        </p:blipFill>
        <p:spPr>
          <a:xfrm>
            <a:off x="525718" y="2523744"/>
            <a:ext cx="5512288" cy="3739231"/>
          </a:xfrm>
          <a:prstGeom prst="rect">
            <a:avLst/>
          </a:prstGeom>
        </p:spPr>
      </p:pic>
      <p:sp>
        <p:nvSpPr>
          <p:cNvPr id="3" name="Content Placeholder 2">
            <a:extLst>
              <a:ext uri="{FF2B5EF4-FFF2-40B4-BE49-F238E27FC236}">
                <a16:creationId xmlns:a16="http://schemas.microsoft.com/office/drawing/2014/main" id="{9729B250-A011-F441-19FD-E5DCD9E4D8CD}"/>
              </a:ext>
            </a:extLst>
          </p:cNvPr>
          <p:cNvSpPr>
            <a:spLocks noGrp="1"/>
          </p:cNvSpPr>
          <p:nvPr>
            <p:ph idx="1"/>
          </p:nvPr>
        </p:nvSpPr>
        <p:spPr>
          <a:xfrm>
            <a:off x="6444040" y="1114691"/>
            <a:ext cx="4159233" cy="5145901"/>
          </a:xfrm>
        </p:spPr>
        <p:txBody>
          <a:bodyPr>
            <a:normAutofit/>
          </a:bodyPr>
          <a:lstStyle/>
          <a:p>
            <a:pPr marL="342900" indent="-34290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Data vs reality:</a:t>
            </a:r>
            <a:r>
              <a:rPr lang="en-US" dirty="0">
                <a:latin typeface="Calibri" panose="020F0502020204030204" pitchFamily="34" charset="0"/>
                <a:ea typeface="Calibri" panose="020F0502020204030204" pitchFamily="34" charset="0"/>
                <a:cs typeface="Calibri" panose="020F0502020204030204" pitchFamily="34" charset="0"/>
              </a:rPr>
              <a:t> Data is powerful, but it can be "naive." It doesn't know the physical limits of the machinery.</a:t>
            </a:r>
          </a:p>
          <a:p>
            <a:pPr marL="342900" indent="-34290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The Winner:</a:t>
            </a:r>
            <a:r>
              <a:rPr lang="en-US" dirty="0">
                <a:latin typeface="Calibri" panose="020F0502020204030204" pitchFamily="34" charset="0"/>
                <a:ea typeface="Calibri" panose="020F0502020204030204" pitchFamily="34" charset="0"/>
                <a:cs typeface="Calibri" panose="020F0502020204030204" pitchFamily="34" charset="0"/>
              </a:rPr>
              <a:t> Physics performed better because it understood the real-world constraints.</a:t>
            </a:r>
          </a:p>
          <a:p>
            <a:pPr marL="342900" indent="-34290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Future Recommendation:</a:t>
            </a:r>
            <a:r>
              <a:rPr lang="en-US" dirty="0">
                <a:latin typeface="Calibri" panose="020F0502020204030204" pitchFamily="34" charset="0"/>
                <a:ea typeface="Calibri" panose="020F0502020204030204" pitchFamily="34" charset="0"/>
                <a:cs typeface="Calibri" panose="020F0502020204030204" pitchFamily="34" charset="0"/>
              </a:rPr>
              <a:t> Do not replace the engineering physics. Instead, use data science to tune the physics equations for the best of both worlds.</a:t>
            </a:r>
            <a:endParaRPr lang="en-PK" dirty="0"/>
          </a:p>
        </p:txBody>
      </p:sp>
      <p:sp>
        <p:nvSpPr>
          <p:cNvPr id="4141" name="Freeform: Shape 4140">
            <a:extLst>
              <a:ext uri="{FF2B5EF4-FFF2-40B4-BE49-F238E27FC236}">
                <a16:creationId xmlns:a16="http://schemas.microsoft.com/office/drawing/2014/main" id="{E1BEDD21-8CC9-4E04-B8CF-CE59786DF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915833"/>
            <a:ext cx="2438970" cy="942167"/>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143" name="Group 4142">
            <a:extLst>
              <a:ext uri="{FF2B5EF4-FFF2-40B4-BE49-F238E27FC236}">
                <a16:creationId xmlns:a16="http://schemas.microsoft.com/office/drawing/2014/main" id="{3B108AF4-088E-4064-B983-46D04AE2E2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9771377" y="5278254"/>
            <a:ext cx="623078" cy="1834221"/>
            <a:chOff x="10948005" y="3272152"/>
            <a:chExt cx="623078" cy="1834221"/>
          </a:xfrm>
          <a:solidFill>
            <a:schemeClr val="accent1">
              <a:lumMod val="60000"/>
              <a:lumOff val="40000"/>
            </a:schemeClr>
          </a:solidFill>
        </p:grpSpPr>
        <p:sp>
          <p:nvSpPr>
            <p:cNvPr id="4144" name="Freeform: Shape 4143">
              <a:extLst>
                <a:ext uri="{FF2B5EF4-FFF2-40B4-BE49-F238E27FC236}">
                  <a16:creationId xmlns:a16="http://schemas.microsoft.com/office/drawing/2014/main" id="{B0072F45-87A5-41AF-8A5F-AA1169606F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145" name="Freeform: Shape 4144">
              <a:extLst>
                <a:ext uri="{FF2B5EF4-FFF2-40B4-BE49-F238E27FC236}">
                  <a16:creationId xmlns:a16="http://schemas.microsoft.com/office/drawing/2014/main" id="{39543D5C-6314-4A56-96D8-66138F7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146" name="Freeform: Shape 4145">
              <a:extLst>
                <a:ext uri="{FF2B5EF4-FFF2-40B4-BE49-F238E27FC236}">
                  <a16:creationId xmlns:a16="http://schemas.microsoft.com/office/drawing/2014/main" id="{43B17B08-2B11-4A2F-9E2C-DE23C7250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38962" y="5013367"/>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147" name="Graphic 12">
              <a:extLst>
                <a:ext uri="{FF2B5EF4-FFF2-40B4-BE49-F238E27FC236}">
                  <a16:creationId xmlns:a16="http://schemas.microsoft.com/office/drawing/2014/main" id="{1C07DBD2-276A-4A72-BF25-6FB2FCD05A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4148" name="Graphic 15">
              <a:extLst>
                <a:ext uri="{FF2B5EF4-FFF2-40B4-BE49-F238E27FC236}">
                  <a16:creationId xmlns:a16="http://schemas.microsoft.com/office/drawing/2014/main" id="{C354B108-DB71-4484-8743-68C8D50307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56574" y="4484929"/>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4149" name="Graphic 15">
              <a:extLst>
                <a:ext uri="{FF2B5EF4-FFF2-40B4-BE49-F238E27FC236}">
                  <a16:creationId xmlns:a16="http://schemas.microsoft.com/office/drawing/2014/main" id="{C50B8508-ED23-4F52-B6D0-18C4EFC54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4150" name="Freeform: Shape 4149">
              <a:extLst>
                <a:ext uri="{FF2B5EF4-FFF2-40B4-BE49-F238E27FC236}">
                  <a16:creationId xmlns:a16="http://schemas.microsoft.com/office/drawing/2014/main" id="{37C296D5-FE18-49F2-BECF-3BBFD7834B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98165" y="4772395"/>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00942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2" name="Freeform: Shape 61">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3" name="Group 62">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64" name="Freeform: Shape 63">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5" name="Freeform: Shape 64">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6" name="Freeform: Shape 65">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7"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68"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69"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1" name="Freeform: Shape 70">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72"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73" name="Graphic 78">
              <a:extLst>
                <a:ext uri="{FF2B5EF4-FFF2-40B4-BE49-F238E27FC236}">
                  <a16:creationId xmlns:a16="http://schemas.microsoft.com/office/drawing/2014/main" id="{5E279D86-4533-45F1-B0AA-D237399A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5" name="Graphic 78">
              <a:extLst>
                <a:ext uri="{FF2B5EF4-FFF2-40B4-BE49-F238E27FC236}">
                  <a16:creationId xmlns:a16="http://schemas.microsoft.com/office/drawing/2014/main" id="{764FD722-CB31-4326-ADD8-CBA52FD1FF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74" name="Graphic 78">
                <a:extLst>
                  <a:ext uri="{FF2B5EF4-FFF2-40B4-BE49-F238E27FC236}">
                    <a16:creationId xmlns:a16="http://schemas.microsoft.com/office/drawing/2014/main" id="{24E4BCEC-8B0A-444E-8509-1B3BB0449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75" name="Graphic 78">
                <a:extLst>
                  <a:ext uri="{FF2B5EF4-FFF2-40B4-BE49-F238E27FC236}">
                    <a16:creationId xmlns:a16="http://schemas.microsoft.com/office/drawing/2014/main" id="{9DB36622-1DC7-4B17-8984-588BA8999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76" name="Graphic 78">
                <a:extLst>
                  <a:ext uri="{FF2B5EF4-FFF2-40B4-BE49-F238E27FC236}">
                    <a16:creationId xmlns:a16="http://schemas.microsoft.com/office/drawing/2014/main" id="{51B97AF0-1974-42B9-B5FC-A332C52E8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77" name="Graphic 78">
                <a:extLst>
                  <a:ext uri="{FF2B5EF4-FFF2-40B4-BE49-F238E27FC236}">
                    <a16:creationId xmlns:a16="http://schemas.microsoft.com/office/drawing/2014/main" id="{95A298AD-BE5D-4BE1-8CDF-DBFB42D6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78" name="Rectangle 77">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BE8BD3-65D6-3904-E03E-FAAB07E30056}"/>
              </a:ext>
            </a:extLst>
          </p:cNvPr>
          <p:cNvSpPr>
            <a:spLocks noGrp="1"/>
          </p:cNvSpPr>
          <p:nvPr>
            <p:ph type="title"/>
          </p:nvPr>
        </p:nvSpPr>
        <p:spPr>
          <a:xfrm>
            <a:off x="518453" y="971398"/>
            <a:ext cx="5383698" cy="2131972"/>
          </a:xfrm>
        </p:spPr>
        <p:txBody>
          <a:bodyPr vert="horz" lIns="91440" tIns="45720" rIns="91440" bIns="45720" rtlCol="0" anchor="t">
            <a:normAutofit/>
          </a:bodyPr>
          <a:lstStyle/>
          <a:p>
            <a:r>
              <a:rPr lang="en-US" sz="4000" b="1"/>
              <a:t>Appendix: EDA</a:t>
            </a:r>
          </a:p>
        </p:txBody>
      </p:sp>
      <p:grpSp>
        <p:nvGrpSpPr>
          <p:cNvPr id="79" name="Graphic 78">
            <a:extLst>
              <a:ext uri="{FF2B5EF4-FFF2-40B4-BE49-F238E27FC236}">
                <a16:creationId xmlns:a16="http://schemas.microsoft.com/office/drawing/2014/main" id="{674FBD09-398F-4886-8D52-3CCAB16ED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44591" y="971370"/>
            <a:ext cx="972241" cy="45718"/>
            <a:chOff x="4886325" y="3371754"/>
            <a:chExt cx="2418492" cy="113728"/>
          </a:xfrm>
          <a:solidFill>
            <a:schemeClr val="accent1"/>
          </a:solidFill>
        </p:grpSpPr>
        <p:sp>
          <p:nvSpPr>
            <p:cNvPr id="80" name="Graphic 78">
              <a:extLst>
                <a:ext uri="{FF2B5EF4-FFF2-40B4-BE49-F238E27FC236}">
                  <a16:creationId xmlns:a16="http://schemas.microsoft.com/office/drawing/2014/main" id="{794E9BAB-B9ED-4E72-B558-1E4B87537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5" name="Graphic 78">
              <a:extLst>
                <a:ext uri="{FF2B5EF4-FFF2-40B4-BE49-F238E27FC236}">
                  <a16:creationId xmlns:a16="http://schemas.microsoft.com/office/drawing/2014/main" id="{809A1029-A1BA-4EF8-959B-2AF852A34D8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81" name="Graphic 78">
                <a:extLst>
                  <a:ext uri="{FF2B5EF4-FFF2-40B4-BE49-F238E27FC236}">
                    <a16:creationId xmlns:a16="http://schemas.microsoft.com/office/drawing/2014/main" id="{1618CAAA-B087-4302-8144-EFDD1D9FD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82" name="Graphic 78">
                <a:extLst>
                  <a:ext uri="{FF2B5EF4-FFF2-40B4-BE49-F238E27FC236}">
                    <a16:creationId xmlns:a16="http://schemas.microsoft.com/office/drawing/2014/main" id="{D71D93E1-AEA4-4F92-BA99-24786C8A1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83" name="Graphic 78">
                <a:extLst>
                  <a:ext uri="{FF2B5EF4-FFF2-40B4-BE49-F238E27FC236}">
                    <a16:creationId xmlns:a16="http://schemas.microsoft.com/office/drawing/2014/main" id="{CE7112A6-6EAE-4620-B089-30D687AA0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84" name="Graphic 78">
                <a:extLst>
                  <a:ext uri="{FF2B5EF4-FFF2-40B4-BE49-F238E27FC236}">
                    <a16:creationId xmlns:a16="http://schemas.microsoft.com/office/drawing/2014/main" id="{6F45DEA9-D350-4D7C-B408-D0250EE30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pic>
        <p:nvPicPr>
          <p:cNvPr id="15" name="Picture 14">
            <a:extLst>
              <a:ext uri="{FF2B5EF4-FFF2-40B4-BE49-F238E27FC236}">
                <a16:creationId xmlns:a16="http://schemas.microsoft.com/office/drawing/2014/main" id="{7CDE5E1A-42E5-CAF7-5B3D-8E21E34F4A18}"/>
              </a:ext>
            </a:extLst>
          </p:cNvPr>
          <p:cNvPicPr>
            <a:picLocks noChangeAspect="1"/>
          </p:cNvPicPr>
          <p:nvPr/>
        </p:nvPicPr>
        <p:blipFill>
          <a:blip r:embed="rId2"/>
          <a:stretch>
            <a:fillRect/>
          </a:stretch>
        </p:blipFill>
        <p:spPr>
          <a:xfrm>
            <a:off x="434159" y="3176081"/>
            <a:ext cx="3820450" cy="2577837"/>
          </a:xfrm>
          <a:prstGeom prst="rect">
            <a:avLst/>
          </a:prstGeom>
        </p:spPr>
      </p:pic>
      <p:pic>
        <p:nvPicPr>
          <p:cNvPr id="13" name="Picture 12">
            <a:extLst>
              <a:ext uri="{FF2B5EF4-FFF2-40B4-BE49-F238E27FC236}">
                <a16:creationId xmlns:a16="http://schemas.microsoft.com/office/drawing/2014/main" id="{B6EADF5E-55F7-9D9A-384F-B472FB05BDB1}"/>
              </a:ext>
            </a:extLst>
          </p:cNvPr>
          <p:cNvPicPr>
            <a:picLocks noChangeAspect="1"/>
          </p:cNvPicPr>
          <p:nvPr/>
        </p:nvPicPr>
        <p:blipFill>
          <a:blip r:embed="rId3"/>
          <a:stretch>
            <a:fillRect/>
          </a:stretch>
        </p:blipFill>
        <p:spPr>
          <a:xfrm>
            <a:off x="7580046" y="1798707"/>
            <a:ext cx="3962782" cy="1249158"/>
          </a:xfrm>
          <a:prstGeom prst="rect">
            <a:avLst/>
          </a:prstGeom>
        </p:spPr>
      </p:pic>
      <p:pic>
        <p:nvPicPr>
          <p:cNvPr id="11" name="Picture 10">
            <a:extLst>
              <a:ext uri="{FF2B5EF4-FFF2-40B4-BE49-F238E27FC236}">
                <a16:creationId xmlns:a16="http://schemas.microsoft.com/office/drawing/2014/main" id="{C2F0F45D-00EF-1FA1-0B40-48651CC948A8}"/>
              </a:ext>
            </a:extLst>
          </p:cNvPr>
          <p:cNvPicPr>
            <a:picLocks noChangeAspect="1"/>
          </p:cNvPicPr>
          <p:nvPr/>
        </p:nvPicPr>
        <p:blipFill>
          <a:blip r:embed="rId4"/>
          <a:stretch>
            <a:fillRect/>
          </a:stretch>
        </p:blipFill>
        <p:spPr>
          <a:xfrm>
            <a:off x="434158" y="1798706"/>
            <a:ext cx="7138059" cy="1249159"/>
          </a:xfrm>
          <a:prstGeom prst="rect">
            <a:avLst/>
          </a:prstGeom>
        </p:spPr>
      </p:pic>
      <p:sp>
        <p:nvSpPr>
          <p:cNvPr id="85" name="Freeform: Shape 84">
            <a:extLst>
              <a:ext uri="{FF2B5EF4-FFF2-40B4-BE49-F238E27FC236}">
                <a16:creationId xmlns:a16="http://schemas.microsoft.com/office/drawing/2014/main" id="{11E84B46-9597-410B-A51F-E2E0F2FAF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6" name="Group 85">
            <a:extLst>
              <a:ext uri="{FF2B5EF4-FFF2-40B4-BE49-F238E27FC236}">
                <a16:creationId xmlns:a16="http://schemas.microsoft.com/office/drawing/2014/main" id="{3D4FD378-E29E-4996-A8B0-11E2368A6E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10732601" y="5351135"/>
            <a:ext cx="886141" cy="802496"/>
            <a:chOff x="10948005" y="3272152"/>
            <a:chExt cx="868640" cy="786648"/>
          </a:xfrm>
          <a:solidFill>
            <a:schemeClr val="accent1"/>
          </a:solidFill>
        </p:grpSpPr>
        <p:sp>
          <p:nvSpPr>
            <p:cNvPr id="87" name="Freeform: Shape 86">
              <a:extLst>
                <a:ext uri="{FF2B5EF4-FFF2-40B4-BE49-F238E27FC236}">
                  <a16:creationId xmlns:a16="http://schemas.microsoft.com/office/drawing/2014/main" id="{7BA59DF4-225D-4521-9655-5F0DF52E4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88" name="Freeform: Shape 87">
              <a:extLst>
                <a:ext uri="{FF2B5EF4-FFF2-40B4-BE49-F238E27FC236}">
                  <a16:creationId xmlns:a16="http://schemas.microsoft.com/office/drawing/2014/main" id="{C5295146-5EA5-417D-AAEE-F59000BC6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89" name="Freeform: Shape 88">
              <a:extLst>
                <a:ext uri="{FF2B5EF4-FFF2-40B4-BE49-F238E27FC236}">
                  <a16:creationId xmlns:a16="http://schemas.microsoft.com/office/drawing/2014/main" id="{3768FE2E-63BB-4E2F-8744-A188E6C61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90" name="Graphic 12">
              <a:extLst>
                <a:ext uri="{FF2B5EF4-FFF2-40B4-BE49-F238E27FC236}">
                  <a16:creationId xmlns:a16="http://schemas.microsoft.com/office/drawing/2014/main" id="{4641D6CE-B3E9-440C-BAAE-6F6968AAA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91" name="Graphic 15">
              <a:extLst>
                <a:ext uri="{FF2B5EF4-FFF2-40B4-BE49-F238E27FC236}">
                  <a16:creationId xmlns:a16="http://schemas.microsoft.com/office/drawing/2014/main" id="{8D02F1DC-8FDC-4424-8750-42EE6CB9FB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92" name="Graphic 15">
              <a:extLst>
                <a:ext uri="{FF2B5EF4-FFF2-40B4-BE49-F238E27FC236}">
                  <a16:creationId xmlns:a16="http://schemas.microsoft.com/office/drawing/2014/main" id="{2BB6A551-D864-43F8-B270-809C68AE3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57277C8-A482-4AA3-AFA6-7F211CE35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9" name="Picture 18">
            <a:extLst>
              <a:ext uri="{FF2B5EF4-FFF2-40B4-BE49-F238E27FC236}">
                <a16:creationId xmlns:a16="http://schemas.microsoft.com/office/drawing/2014/main" id="{EEFA504F-FBF2-3C78-EF5E-EC805C788A33}"/>
              </a:ext>
            </a:extLst>
          </p:cNvPr>
          <p:cNvPicPr>
            <a:picLocks noChangeAspect="1"/>
          </p:cNvPicPr>
          <p:nvPr/>
        </p:nvPicPr>
        <p:blipFill>
          <a:blip r:embed="rId5"/>
          <a:stretch>
            <a:fillRect/>
          </a:stretch>
        </p:blipFill>
        <p:spPr>
          <a:xfrm>
            <a:off x="4432212" y="3160054"/>
            <a:ext cx="3624757" cy="2689708"/>
          </a:xfrm>
          <a:prstGeom prst="rect">
            <a:avLst/>
          </a:prstGeom>
        </p:spPr>
      </p:pic>
      <p:pic>
        <p:nvPicPr>
          <p:cNvPr id="30" name="Picture 29">
            <a:extLst>
              <a:ext uri="{FF2B5EF4-FFF2-40B4-BE49-F238E27FC236}">
                <a16:creationId xmlns:a16="http://schemas.microsoft.com/office/drawing/2014/main" id="{3BC4B917-C5E7-7369-448B-6F2F8C5BDA01}"/>
              </a:ext>
            </a:extLst>
          </p:cNvPr>
          <p:cNvPicPr>
            <a:picLocks noChangeAspect="1"/>
          </p:cNvPicPr>
          <p:nvPr/>
        </p:nvPicPr>
        <p:blipFill>
          <a:blip r:embed="rId6"/>
          <a:stretch>
            <a:fillRect/>
          </a:stretch>
        </p:blipFill>
        <p:spPr>
          <a:xfrm>
            <a:off x="8215921" y="3185103"/>
            <a:ext cx="3378878" cy="2673808"/>
          </a:xfrm>
          <a:prstGeom prst="rect">
            <a:avLst/>
          </a:prstGeom>
        </p:spPr>
      </p:pic>
    </p:spTree>
    <p:extLst>
      <p:ext uri="{BB962C8B-B14F-4D97-AF65-F5344CB8AC3E}">
        <p14:creationId xmlns:p14="http://schemas.microsoft.com/office/powerpoint/2010/main" val="2967726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2C0A35B-081A-3EB5-A84A-348F9A78F327}"/>
            </a:ext>
          </a:extLst>
        </p:cNvPr>
        <p:cNvGrpSpPr/>
        <p:nvPr/>
      </p:nvGrpSpPr>
      <p:grpSpPr>
        <a:xfrm>
          <a:off x="0" y="0"/>
          <a:ext cx="0" cy="0"/>
          <a:chOff x="0" y="0"/>
          <a:chExt cx="0" cy="0"/>
        </a:xfrm>
      </p:grpSpPr>
      <p:sp>
        <p:nvSpPr>
          <p:cNvPr id="62" name="Freeform: Shape 61">
            <a:extLst>
              <a:ext uri="{FF2B5EF4-FFF2-40B4-BE49-F238E27FC236}">
                <a16:creationId xmlns:a16="http://schemas.microsoft.com/office/drawing/2014/main" id="{1124BF81-76FA-F3EE-4EC8-1C3D8204D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3" name="Group 62">
            <a:extLst>
              <a:ext uri="{FF2B5EF4-FFF2-40B4-BE49-F238E27FC236}">
                <a16:creationId xmlns:a16="http://schemas.microsoft.com/office/drawing/2014/main" id="{70B8CB13-4701-DFBE-8A9C-4F2DD3BE4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64" name="Freeform: Shape 63">
              <a:extLst>
                <a:ext uri="{FF2B5EF4-FFF2-40B4-BE49-F238E27FC236}">
                  <a16:creationId xmlns:a16="http://schemas.microsoft.com/office/drawing/2014/main" id="{4FC7F74C-DEB4-14DA-BAEC-1FF09E74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5" name="Freeform: Shape 64">
              <a:extLst>
                <a:ext uri="{FF2B5EF4-FFF2-40B4-BE49-F238E27FC236}">
                  <a16:creationId xmlns:a16="http://schemas.microsoft.com/office/drawing/2014/main" id="{48B77A9F-7AC8-3F27-5ED3-AF8721C2A3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6" name="Freeform: Shape 65">
              <a:extLst>
                <a:ext uri="{FF2B5EF4-FFF2-40B4-BE49-F238E27FC236}">
                  <a16:creationId xmlns:a16="http://schemas.microsoft.com/office/drawing/2014/main" id="{13FAF2AA-7E2B-E06C-6AA3-51B50CF68E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7" name="Graphic 12">
              <a:extLst>
                <a:ext uri="{FF2B5EF4-FFF2-40B4-BE49-F238E27FC236}">
                  <a16:creationId xmlns:a16="http://schemas.microsoft.com/office/drawing/2014/main" id="{F61E7215-D171-96E5-C624-EF0C145DA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68" name="Graphic 15">
              <a:extLst>
                <a:ext uri="{FF2B5EF4-FFF2-40B4-BE49-F238E27FC236}">
                  <a16:creationId xmlns:a16="http://schemas.microsoft.com/office/drawing/2014/main" id="{7BFBA896-0635-C4C4-B470-5E4337C40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69" name="Graphic 15">
              <a:extLst>
                <a:ext uri="{FF2B5EF4-FFF2-40B4-BE49-F238E27FC236}">
                  <a16:creationId xmlns:a16="http://schemas.microsoft.com/office/drawing/2014/main" id="{351E7346-A88D-DA9F-A8B6-BAF1B9F4D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D14B7D83-C5E9-AB1D-D011-9A1CCB20E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1" name="Freeform: Shape 70">
            <a:extLst>
              <a:ext uri="{FF2B5EF4-FFF2-40B4-BE49-F238E27FC236}">
                <a16:creationId xmlns:a16="http://schemas.microsoft.com/office/drawing/2014/main" id="{C5F4D2DE-9CDD-2112-DC2A-097E46CCA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72" name="Graphic 78">
            <a:extLst>
              <a:ext uri="{FF2B5EF4-FFF2-40B4-BE49-F238E27FC236}">
                <a16:creationId xmlns:a16="http://schemas.microsoft.com/office/drawing/2014/main" id="{477CDE9E-4F5B-FB5A-F859-6BB14F1604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73" name="Graphic 78">
              <a:extLst>
                <a:ext uri="{FF2B5EF4-FFF2-40B4-BE49-F238E27FC236}">
                  <a16:creationId xmlns:a16="http://schemas.microsoft.com/office/drawing/2014/main" id="{9BC5F5E5-ABCF-49DE-87F5-1EB8B88F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5" name="Graphic 78">
              <a:extLst>
                <a:ext uri="{FF2B5EF4-FFF2-40B4-BE49-F238E27FC236}">
                  <a16:creationId xmlns:a16="http://schemas.microsoft.com/office/drawing/2014/main" id="{E373D7CD-819C-9E72-1618-5E0960AC012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74" name="Graphic 78">
                <a:extLst>
                  <a:ext uri="{FF2B5EF4-FFF2-40B4-BE49-F238E27FC236}">
                    <a16:creationId xmlns:a16="http://schemas.microsoft.com/office/drawing/2014/main" id="{0FC0AA68-932A-CA3C-EEC2-7823D9BC7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75" name="Graphic 78">
                <a:extLst>
                  <a:ext uri="{FF2B5EF4-FFF2-40B4-BE49-F238E27FC236}">
                    <a16:creationId xmlns:a16="http://schemas.microsoft.com/office/drawing/2014/main" id="{022AF392-DF65-BAD5-E317-AE2C7FA015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76" name="Graphic 78">
                <a:extLst>
                  <a:ext uri="{FF2B5EF4-FFF2-40B4-BE49-F238E27FC236}">
                    <a16:creationId xmlns:a16="http://schemas.microsoft.com/office/drawing/2014/main" id="{4F27E5F7-01A1-2E8D-60D9-60825C7BE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77" name="Graphic 78">
                <a:extLst>
                  <a:ext uri="{FF2B5EF4-FFF2-40B4-BE49-F238E27FC236}">
                    <a16:creationId xmlns:a16="http://schemas.microsoft.com/office/drawing/2014/main" id="{239D9CCB-4EAE-1FE4-2068-85BB8BB2FE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useBgFill="1">
        <p:nvSpPr>
          <p:cNvPr id="78" name="Rectangle 77">
            <a:extLst>
              <a:ext uri="{FF2B5EF4-FFF2-40B4-BE49-F238E27FC236}">
                <a16:creationId xmlns:a16="http://schemas.microsoft.com/office/drawing/2014/main" id="{0E7C3DCE-34B7-33B1-F145-06110663A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A28DBB-F2E4-829F-F52C-F37C3A434945}"/>
              </a:ext>
            </a:extLst>
          </p:cNvPr>
          <p:cNvSpPr>
            <a:spLocks noGrp="1"/>
          </p:cNvSpPr>
          <p:nvPr>
            <p:ph type="title"/>
          </p:nvPr>
        </p:nvSpPr>
        <p:spPr>
          <a:xfrm>
            <a:off x="518452" y="971398"/>
            <a:ext cx="10143451" cy="864590"/>
          </a:xfrm>
        </p:spPr>
        <p:txBody>
          <a:bodyPr vert="horz" lIns="91440" tIns="45720" rIns="91440" bIns="45720" rtlCol="0" anchor="t">
            <a:normAutofit fontScale="90000"/>
          </a:bodyPr>
          <a:lstStyle/>
          <a:p>
            <a:r>
              <a:rPr lang="en-US" sz="4000" b="1" i="0" dirty="0">
                <a:latin typeface="Calibri" panose="020F0502020204030204" pitchFamily="34" charset="0"/>
                <a:ea typeface="Calibri" panose="020F0502020204030204" pitchFamily="34" charset="0"/>
                <a:cs typeface="Calibri" panose="020F0502020204030204" pitchFamily="34" charset="0"/>
              </a:rPr>
              <a:t>Appendix: Multicollinearity &amp; Heteroskedasticity  </a:t>
            </a:r>
          </a:p>
        </p:txBody>
      </p:sp>
      <p:grpSp>
        <p:nvGrpSpPr>
          <p:cNvPr id="79" name="Graphic 78">
            <a:extLst>
              <a:ext uri="{FF2B5EF4-FFF2-40B4-BE49-F238E27FC236}">
                <a16:creationId xmlns:a16="http://schemas.microsoft.com/office/drawing/2014/main" id="{F53DDC29-F209-D414-F5F1-DC0416BAED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44591" y="971370"/>
            <a:ext cx="972241" cy="45718"/>
            <a:chOff x="4886325" y="3371754"/>
            <a:chExt cx="2418492" cy="113728"/>
          </a:xfrm>
          <a:solidFill>
            <a:schemeClr val="accent1"/>
          </a:solidFill>
        </p:grpSpPr>
        <p:sp>
          <p:nvSpPr>
            <p:cNvPr id="80" name="Graphic 78">
              <a:extLst>
                <a:ext uri="{FF2B5EF4-FFF2-40B4-BE49-F238E27FC236}">
                  <a16:creationId xmlns:a16="http://schemas.microsoft.com/office/drawing/2014/main" id="{BE199403-04D7-8431-B0EC-349F3AFD4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5" name="Graphic 78">
              <a:extLst>
                <a:ext uri="{FF2B5EF4-FFF2-40B4-BE49-F238E27FC236}">
                  <a16:creationId xmlns:a16="http://schemas.microsoft.com/office/drawing/2014/main" id="{3A2CC0DA-736D-0424-2536-5752A08CDD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81" name="Graphic 78">
                <a:extLst>
                  <a:ext uri="{FF2B5EF4-FFF2-40B4-BE49-F238E27FC236}">
                    <a16:creationId xmlns:a16="http://schemas.microsoft.com/office/drawing/2014/main" id="{2BE7A875-DA6D-6E34-0D80-D3F541C2E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82" name="Graphic 78">
                <a:extLst>
                  <a:ext uri="{FF2B5EF4-FFF2-40B4-BE49-F238E27FC236}">
                    <a16:creationId xmlns:a16="http://schemas.microsoft.com/office/drawing/2014/main" id="{02FF6547-4277-E060-93F9-E0C4CFBB7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83" name="Graphic 78">
                <a:extLst>
                  <a:ext uri="{FF2B5EF4-FFF2-40B4-BE49-F238E27FC236}">
                    <a16:creationId xmlns:a16="http://schemas.microsoft.com/office/drawing/2014/main" id="{DB463752-5F34-8FD9-F35B-9F2B04509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84" name="Graphic 78">
                <a:extLst>
                  <a:ext uri="{FF2B5EF4-FFF2-40B4-BE49-F238E27FC236}">
                    <a16:creationId xmlns:a16="http://schemas.microsoft.com/office/drawing/2014/main" id="{3C29AA11-628C-16F6-DED6-05E30CD30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85" name="Freeform: Shape 84">
            <a:extLst>
              <a:ext uri="{FF2B5EF4-FFF2-40B4-BE49-F238E27FC236}">
                <a16:creationId xmlns:a16="http://schemas.microsoft.com/office/drawing/2014/main" id="{4298A7BF-0BDD-7A9B-56B6-46C88158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6" name="Group 85">
            <a:extLst>
              <a:ext uri="{FF2B5EF4-FFF2-40B4-BE49-F238E27FC236}">
                <a16:creationId xmlns:a16="http://schemas.microsoft.com/office/drawing/2014/main" id="{F6370FD2-81BD-30EE-EBF5-631F137E7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10732601" y="5351135"/>
            <a:ext cx="886141" cy="802496"/>
            <a:chOff x="10948005" y="3272152"/>
            <a:chExt cx="868640" cy="786648"/>
          </a:xfrm>
          <a:solidFill>
            <a:schemeClr val="accent1"/>
          </a:solidFill>
        </p:grpSpPr>
        <p:sp>
          <p:nvSpPr>
            <p:cNvPr id="87" name="Freeform: Shape 86">
              <a:extLst>
                <a:ext uri="{FF2B5EF4-FFF2-40B4-BE49-F238E27FC236}">
                  <a16:creationId xmlns:a16="http://schemas.microsoft.com/office/drawing/2014/main" id="{800B6A22-D907-AD4A-10B6-F0A64BE22C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88" name="Freeform: Shape 87">
              <a:extLst>
                <a:ext uri="{FF2B5EF4-FFF2-40B4-BE49-F238E27FC236}">
                  <a16:creationId xmlns:a16="http://schemas.microsoft.com/office/drawing/2014/main" id="{CBFF3BEE-4D44-F9C0-5D4A-30EBB352B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89" name="Freeform: Shape 88">
              <a:extLst>
                <a:ext uri="{FF2B5EF4-FFF2-40B4-BE49-F238E27FC236}">
                  <a16:creationId xmlns:a16="http://schemas.microsoft.com/office/drawing/2014/main" id="{B12A5066-0779-FD55-F349-394A0926D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90" name="Graphic 12">
              <a:extLst>
                <a:ext uri="{FF2B5EF4-FFF2-40B4-BE49-F238E27FC236}">
                  <a16:creationId xmlns:a16="http://schemas.microsoft.com/office/drawing/2014/main" id="{1F0F2B5E-C0BC-C9E5-5FA4-139364AB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91" name="Graphic 15">
              <a:extLst>
                <a:ext uri="{FF2B5EF4-FFF2-40B4-BE49-F238E27FC236}">
                  <a16:creationId xmlns:a16="http://schemas.microsoft.com/office/drawing/2014/main" id="{8DFDBD71-8AF3-4B93-BD00-EF2C22B2A5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92" name="Graphic 15">
              <a:extLst>
                <a:ext uri="{FF2B5EF4-FFF2-40B4-BE49-F238E27FC236}">
                  <a16:creationId xmlns:a16="http://schemas.microsoft.com/office/drawing/2014/main" id="{0DDDDBC4-EDB6-FA8B-BABF-B2B2B5D7C3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E1CF3573-B379-E642-5BDC-1E3B56FE5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F6EAE857-DCAE-8CE3-0AD6-36D88B44F1F1}"/>
              </a:ext>
            </a:extLst>
          </p:cNvPr>
          <p:cNvPicPr>
            <a:picLocks noChangeAspect="1"/>
          </p:cNvPicPr>
          <p:nvPr/>
        </p:nvPicPr>
        <p:blipFill>
          <a:blip r:embed="rId2"/>
          <a:stretch>
            <a:fillRect/>
          </a:stretch>
        </p:blipFill>
        <p:spPr>
          <a:xfrm>
            <a:off x="6504382" y="1762934"/>
            <a:ext cx="5169166" cy="4057859"/>
          </a:xfrm>
          <a:prstGeom prst="rect">
            <a:avLst/>
          </a:prstGeom>
        </p:spPr>
      </p:pic>
      <p:sp>
        <p:nvSpPr>
          <p:cNvPr id="6" name="TextBox 5">
            <a:extLst>
              <a:ext uri="{FF2B5EF4-FFF2-40B4-BE49-F238E27FC236}">
                <a16:creationId xmlns:a16="http://schemas.microsoft.com/office/drawing/2014/main" id="{17A72A94-0A92-3516-2398-D9D5C77FC430}"/>
              </a:ext>
            </a:extLst>
          </p:cNvPr>
          <p:cNvSpPr txBox="1"/>
          <p:nvPr/>
        </p:nvSpPr>
        <p:spPr>
          <a:xfrm>
            <a:off x="361789" y="1751538"/>
            <a:ext cx="5891872" cy="5078313"/>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Many drilling variables are </a:t>
            </a:r>
            <a:r>
              <a:rPr lang="en-US" b="1" dirty="0">
                <a:latin typeface="Calibri" panose="020F0502020204030204" pitchFamily="34" charset="0"/>
                <a:ea typeface="Calibri" panose="020F0502020204030204" pitchFamily="34" charset="0"/>
                <a:cs typeface="Calibri" panose="020F0502020204030204" pitchFamily="34" charset="0"/>
              </a:rPr>
              <a:t>correlated</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This causes:</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Inflated standard errors &amp; table regression coefficients</a:t>
            </a:r>
          </a:p>
          <a:p>
            <a:r>
              <a:rPr lang="en-US" dirty="0">
                <a:latin typeface="Calibri" panose="020F0502020204030204" pitchFamily="34" charset="0"/>
                <a:ea typeface="Calibri" panose="020F0502020204030204" pitchFamily="34" charset="0"/>
                <a:cs typeface="Calibri" panose="020F0502020204030204" pitchFamily="34" charset="0"/>
              </a:rPr>
              <a:t>We must use : </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Correlation matrix OR Variance Inflation Factor (VIF)</a:t>
            </a:r>
          </a:p>
          <a:p>
            <a:r>
              <a:rPr lang="en-US" b="1" dirty="0">
                <a:latin typeface="Calibri" panose="020F0502020204030204" pitchFamily="34" charset="0"/>
                <a:ea typeface="Calibri" panose="020F0502020204030204" pitchFamily="34" charset="0"/>
                <a:cs typeface="Calibri" panose="020F0502020204030204" pitchFamily="34" charset="0"/>
              </a:rPr>
              <a:t>Heteroskedasticity:</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Variance of ROP changes with:</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Depth, Formation changes, and Bit wear</a:t>
            </a:r>
          </a:p>
          <a:p>
            <a:r>
              <a:rPr lang="en-US" b="1" dirty="0">
                <a:latin typeface="Calibri" panose="020F0502020204030204" pitchFamily="34" charset="0"/>
                <a:ea typeface="Calibri" panose="020F0502020204030204" pitchFamily="34" charset="0"/>
                <a:cs typeface="Calibri" panose="020F0502020204030204" pitchFamily="34" charset="0"/>
              </a:rPr>
              <a:t>We must run </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Breusch–Pagan test or similar Possibly use: </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Robust standard errors OR Weighted least squares</a:t>
            </a:r>
          </a:p>
          <a:p>
            <a:r>
              <a:rPr lang="en-US" b="1" dirty="0">
                <a:latin typeface="Calibri" panose="020F0502020204030204" pitchFamily="34" charset="0"/>
                <a:ea typeface="Calibri" panose="020F0502020204030204" pitchFamily="34" charset="0"/>
                <a:cs typeface="Calibri" panose="020F0502020204030204" pitchFamily="34" charset="0"/>
              </a:rPr>
              <a:t>Autocorrelation (Serial Correlation)</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Because data is:</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Depth-ordered &amp; Sequential</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Residuals are not independent:</a:t>
            </a:r>
          </a:p>
          <a:p>
            <a:r>
              <a:rPr lang="en-US" sz="1600" dirty="0">
                <a:latin typeface="Calibri" panose="020F0502020204030204" pitchFamily="34" charset="0"/>
                <a:ea typeface="Calibri" panose="020F0502020204030204" pitchFamily="34" charset="0"/>
                <a:cs typeface="Calibri" panose="020F0502020204030204" pitchFamily="34" charset="0"/>
              </a:rPr>
              <a:t>We have to use</a:t>
            </a:r>
          </a:p>
          <a:p>
            <a:pPr marL="742950" lvl="1"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Check Durbin–Watson Or residual ACF plots</a:t>
            </a:r>
          </a:p>
          <a:p>
            <a:endParaRPr lang="en-US" dirty="0"/>
          </a:p>
          <a:p>
            <a:endParaRPr lang="en-PK" dirty="0"/>
          </a:p>
        </p:txBody>
      </p:sp>
      <p:sp>
        <p:nvSpPr>
          <p:cNvPr id="9" name="Rectangle 3">
            <a:extLst>
              <a:ext uri="{FF2B5EF4-FFF2-40B4-BE49-F238E27FC236}">
                <a16:creationId xmlns:a16="http://schemas.microsoft.com/office/drawing/2014/main" id="{573A3442-4016-BCAC-0546-99CD8EAD9BF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a:ln>
                  <a:noFill/>
                </a:ln>
                <a:solidFill>
                  <a:schemeClr val="tx1"/>
                </a:solidFill>
                <a:effectLst/>
                <a:latin typeface="Arial" panose="020B0604020202020204" pitchFamily="34" charset="0"/>
              </a:rPr>
              <a:t>Check </a:t>
            </a:r>
            <a:r>
              <a:rPr kumimoji="0" lang="en-PK" altLang="en-PK" sz="1800" b="1" i="0" u="none" strike="noStrike" cap="none" normalizeH="0" baseline="0">
                <a:ln>
                  <a:noFill/>
                </a:ln>
                <a:solidFill>
                  <a:schemeClr val="tx1"/>
                </a:solidFill>
                <a:effectLst/>
                <a:latin typeface="Arial" panose="020B0604020202020204" pitchFamily="34" charset="0"/>
              </a:rPr>
              <a:t>Durbin–Watson</a:t>
            </a:r>
            <a:endParaRPr kumimoji="0" lang="en-PK" altLang="en-PK"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a:ln>
                  <a:noFill/>
                </a:ln>
                <a:solidFill>
                  <a:schemeClr val="tx1"/>
                </a:solidFill>
                <a:effectLst/>
                <a:latin typeface="Arial" panose="020B0604020202020204" pitchFamily="34" charset="0"/>
              </a:rPr>
              <a:t>Or residual ACF plots</a:t>
            </a:r>
          </a:p>
        </p:txBody>
      </p:sp>
    </p:spTree>
    <p:extLst>
      <p:ext uri="{BB962C8B-B14F-4D97-AF65-F5344CB8AC3E}">
        <p14:creationId xmlns:p14="http://schemas.microsoft.com/office/powerpoint/2010/main" val="3257661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2B53A-6D41-42A3-575C-67F062CC4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149F7-8EC3-3E8D-7C2B-E9C7935B5A0C}"/>
              </a:ext>
            </a:extLst>
          </p:cNvPr>
          <p:cNvSpPr>
            <a:spLocks noGrp="1"/>
          </p:cNvSpPr>
          <p:nvPr>
            <p:ph type="title"/>
          </p:nvPr>
        </p:nvSpPr>
        <p:spPr>
          <a:xfrm>
            <a:off x="525717" y="787069"/>
            <a:ext cx="10077557" cy="648540"/>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Appendix: Statistical Regression</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pic>
        <p:nvPicPr>
          <p:cNvPr id="7" name="Content Placeholder 6">
            <a:extLst>
              <a:ext uri="{FF2B5EF4-FFF2-40B4-BE49-F238E27FC236}">
                <a16:creationId xmlns:a16="http://schemas.microsoft.com/office/drawing/2014/main" id="{3890ADE8-3E63-CFA8-9969-EAE4ACEE5276}"/>
              </a:ext>
            </a:extLst>
          </p:cNvPr>
          <p:cNvPicPr>
            <a:picLocks noGrp="1" noChangeAspect="1"/>
          </p:cNvPicPr>
          <p:nvPr>
            <p:ph idx="1"/>
          </p:nvPr>
        </p:nvPicPr>
        <p:blipFill>
          <a:blip r:embed="rId2"/>
          <a:stretch>
            <a:fillRect/>
          </a:stretch>
        </p:blipFill>
        <p:spPr>
          <a:xfrm>
            <a:off x="4135611" y="2158633"/>
            <a:ext cx="3149762" cy="673135"/>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90418C4-6130-651A-45FD-DD97719E5E05}"/>
                  </a:ext>
                </a:extLst>
              </p:cNvPr>
              <p:cNvSpPr txBox="1"/>
              <p:nvPr/>
            </p:nvSpPr>
            <p:spPr>
              <a:xfrm>
                <a:off x="384048" y="2831768"/>
                <a:ext cx="11000232" cy="3416320"/>
              </a:xfrm>
              <a:prstGeom prst="rect">
                <a:avLst/>
              </a:prstGeom>
              <a:noFill/>
            </p:spPr>
            <p:txBody>
              <a:bodyPr wrap="square">
                <a:spAutoFit/>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Where:</a:t>
                </a:r>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𝜀</m:t>
                        </m:r>
                      </m:e>
                      <m:sub>
                        <m:r>
                          <a:rPr lang="ar-AE" i="1">
                            <a:latin typeface="Cambria Math" panose="02040503050406030204" pitchFamily="18" charset="0"/>
                          </a:rPr>
                          <m:t>𝑖</m:t>
                        </m:r>
                      </m:sub>
                    </m:sSub>
                  </m:oMath>
                </a14:m>
                <a:r>
                  <a:rPr lang="ar-AE"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random measurement + formation variability</a:t>
                </a:r>
              </a:p>
              <a:p>
                <a:r>
                  <a:rPr lang="en-US" b="1" dirty="0">
                    <a:latin typeface="Calibri" panose="020F0502020204030204" pitchFamily="34" charset="0"/>
                    <a:ea typeface="Calibri" panose="020F0502020204030204" pitchFamily="34" charset="0"/>
                    <a:cs typeface="Calibri" panose="020F0502020204030204" pitchFamily="34" charset="0"/>
                  </a:rPr>
                  <a:t>Categories of Features Used : </a:t>
                </a:r>
              </a:p>
              <a:p>
                <a:r>
                  <a:rPr lang="en-US" b="1" dirty="0">
                    <a:latin typeface="Calibri" panose="020F0502020204030204" pitchFamily="34" charset="0"/>
                    <a:ea typeface="Calibri" panose="020F0502020204030204" pitchFamily="34" charset="0"/>
                    <a:cs typeface="Calibri" panose="020F0502020204030204" pitchFamily="34" charset="0"/>
                  </a:rPr>
                  <a:t>A) Mechanical Energy / Bit–Rock Interaction Variables</a:t>
                </a:r>
              </a:p>
              <a:p>
                <a:r>
                  <a:rPr lang="en-US" dirty="0">
                    <a:latin typeface="Calibri" panose="020F0502020204030204" pitchFamily="34" charset="0"/>
                    <a:ea typeface="Calibri" panose="020F0502020204030204" pitchFamily="34" charset="0"/>
                    <a:cs typeface="Calibri" panose="020F0502020204030204" pitchFamily="34" charset="0"/>
                  </a:rPr>
                  <a:t>Typical variables in this group:</a:t>
                </a:r>
              </a:p>
              <a:p>
                <a:r>
                  <a:rPr lang="en-US" b="1" dirty="0">
                    <a:latin typeface="Calibri" panose="020F0502020204030204" pitchFamily="34" charset="0"/>
                    <a:ea typeface="Calibri" panose="020F0502020204030204" pitchFamily="34" charset="0"/>
                    <a:cs typeface="Calibri" panose="020F0502020204030204" pitchFamily="34" charset="0"/>
                  </a:rPr>
                  <a:t>Weight on Bit (WOB) : </a:t>
                </a:r>
                <a:r>
                  <a:rPr lang="en-US" dirty="0">
                    <a:latin typeface="Calibri" panose="020F0502020204030204" pitchFamily="34" charset="0"/>
                    <a:ea typeface="Calibri" panose="020F0502020204030204" pitchFamily="34" charset="0"/>
                    <a:cs typeface="Calibri" panose="020F0502020204030204" pitchFamily="34" charset="0"/>
                  </a:rPr>
                  <a:t>How hard the bit presses into the formation. Higher WOB → higher ROP (up to a limit)</a:t>
                </a:r>
              </a:p>
              <a:p>
                <a:r>
                  <a:rPr lang="en-US" b="1" dirty="0">
                    <a:latin typeface="Calibri" panose="020F0502020204030204" pitchFamily="34" charset="0"/>
                    <a:ea typeface="Calibri" panose="020F0502020204030204" pitchFamily="34" charset="0"/>
                    <a:cs typeface="Calibri" panose="020F0502020204030204" pitchFamily="34" charset="0"/>
                  </a:rPr>
                  <a:t>Rotational Speed (RPM): </a:t>
                </a:r>
                <a:r>
                  <a:rPr lang="en-US" dirty="0">
                    <a:latin typeface="Calibri" panose="020F0502020204030204" pitchFamily="34" charset="0"/>
                    <a:ea typeface="Calibri" panose="020F0502020204030204" pitchFamily="34" charset="0"/>
                    <a:cs typeface="Calibri" panose="020F0502020204030204" pitchFamily="34" charset="0"/>
                  </a:rPr>
                  <a:t>How fast the bit rotates. Higher RPM → more cutting action → higher ROP</a:t>
                </a:r>
              </a:p>
              <a:p>
                <a:r>
                  <a:rPr lang="en-US" b="1" dirty="0">
                    <a:latin typeface="Calibri" panose="020F0502020204030204" pitchFamily="34" charset="0"/>
                    <a:ea typeface="Calibri" panose="020F0502020204030204" pitchFamily="34" charset="0"/>
                    <a:cs typeface="Calibri" panose="020F0502020204030204" pitchFamily="34" charset="0"/>
                  </a:rPr>
                  <a:t>Torque: </a:t>
                </a:r>
                <a:r>
                  <a:rPr lang="en-US" dirty="0">
                    <a:latin typeface="Calibri" panose="020F0502020204030204" pitchFamily="34" charset="0"/>
                    <a:ea typeface="Calibri" panose="020F0502020204030204" pitchFamily="34" charset="0"/>
                    <a:cs typeface="Calibri" panose="020F0502020204030204" pitchFamily="34" charset="0"/>
                  </a:rPr>
                  <a:t>Resistance to rotation at the bit. High torque + low ROP → inefficient drilling</a:t>
                </a:r>
              </a:p>
              <a:p>
                <a:r>
                  <a:rPr lang="en-US" b="1" dirty="0">
                    <a:latin typeface="Calibri" panose="020F0502020204030204" pitchFamily="34" charset="0"/>
                    <a:ea typeface="Calibri" panose="020F0502020204030204" pitchFamily="34" charset="0"/>
                    <a:cs typeface="Calibri" panose="020F0502020204030204" pitchFamily="34" charset="0"/>
                  </a:rPr>
                  <a:t>Statistical meaning</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These have </a:t>
                </a:r>
                <a:r>
                  <a:rPr lang="en-US" b="1" dirty="0">
                    <a:latin typeface="Calibri" panose="020F0502020204030204" pitchFamily="34" charset="0"/>
                    <a:ea typeface="Calibri" panose="020F0502020204030204" pitchFamily="34" charset="0"/>
                    <a:cs typeface="Calibri" panose="020F0502020204030204" pitchFamily="34" charset="0"/>
                  </a:rPr>
                  <a:t>direct causal effect</a:t>
                </a:r>
                <a:r>
                  <a:rPr lang="en-US" dirty="0">
                    <a:latin typeface="Calibri" panose="020F0502020204030204" pitchFamily="34" charset="0"/>
                    <a:ea typeface="Calibri" panose="020F0502020204030204" pitchFamily="34" charset="0"/>
                    <a:cs typeface="Calibri" panose="020F0502020204030204" pitchFamily="34" charset="0"/>
                  </a:rPr>
                  <a:t> on ROP</a:t>
                </a:r>
              </a:p>
              <a:p>
                <a:r>
                  <a:rPr lang="en-US" dirty="0">
                    <a:latin typeface="Calibri" panose="020F0502020204030204" pitchFamily="34" charset="0"/>
                    <a:ea typeface="Calibri" panose="020F0502020204030204" pitchFamily="34" charset="0"/>
                    <a:cs typeface="Calibri" panose="020F0502020204030204" pitchFamily="34" charset="0"/>
                  </a:rPr>
                  <a:t>They are your </a:t>
                </a:r>
                <a:r>
                  <a:rPr lang="en-US" b="1" dirty="0">
                    <a:latin typeface="Calibri" panose="020F0502020204030204" pitchFamily="34" charset="0"/>
                    <a:ea typeface="Calibri" panose="020F0502020204030204" pitchFamily="34" charset="0"/>
                    <a:cs typeface="Calibri" panose="020F0502020204030204" pitchFamily="34" charset="0"/>
                  </a:rPr>
                  <a:t>primary regression drivers</a:t>
                </a: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p>
            </p:txBody>
          </p:sp>
        </mc:Choice>
        <mc:Fallback xmlns="">
          <p:sp>
            <p:nvSpPr>
              <p:cNvPr id="9" name="TextBox 8">
                <a:extLst>
                  <a:ext uri="{FF2B5EF4-FFF2-40B4-BE49-F238E27FC236}">
                    <a16:creationId xmlns:a16="http://schemas.microsoft.com/office/drawing/2014/main" id="{A90418C4-6130-651A-45FD-DD97719E5E05}"/>
                  </a:ext>
                </a:extLst>
              </p:cNvPr>
              <p:cNvSpPr txBox="1">
                <a:spLocks noRot="1" noChangeAspect="1" noMove="1" noResize="1" noEditPoints="1" noAdjustHandles="1" noChangeArrowheads="1" noChangeShapeType="1" noTextEdit="1"/>
              </p:cNvSpPr>
              <p:nvPr/>
            </p:nvSpPr>
            <p:spPr>
              <a:xfrm>
                <a:off x="384048" y="2831768"/>
                <a:ext cx="11000232" cy="3416320"/>
              </a:xfrm>
              <a:prstGeom prst="rect">
                <a:avLst/>
              </a:prstGeom>
              <a:blipFill>
                <a:blip r:embed="rId3"/>
                <a:stretch>
                  <a:fillRect l="-443" t="-1071"/>
                </a:stretch>
              </a:blipFill>
            </p:spPr>
            <p:txBody>
              <a:bodyPr/>
              <a:lstStyle/>
              <a:p>
                <a:r>
                  <a:rPr lang="en-PK">
                    <a:noFill/>
                  </a:rPr>
                  <a:t> </a:t>
                </a:r>
              </a:p>
            </p:txBody>
          </p:sp>
        </mc:Fallback>
      </mc:AlternateContent>
    </p:spTree>
    <p:extLst>
      <p:ext uri="{BB962C8B-B14F-4D97-AF65-F5344CB8AC3E}">
        <p14:creationId xmlns:p14="http://schemas.microsoft.com/office/powerpoint/2010/main" val="489631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EA76-E46C-9395-4990-7F6160F54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19F48-A66C-B419-7A42-5EEF7AB72746}"/>
              </a:ext>
            </a:extLst>
          </p:cNvPr>
          <p:cNvSpPr>
            <a:spLocks noGrp="1"/>
          </p:cNvSpPr>
          <p:nvPr>
            <p:ph type="title"/>
          </p:nvPr>
        </p:nvSpPr>
        <p:spPr>
          <a:xfrm>
            <a:off x="525717" y="787069"/>
            <a:ext cx="10077557" cy="648540"/>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Appendix: Statistical Regression</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6" name="Content Placeholder 5">
            <a:extLst>
              <a:ext uri="{FF2B5EF4-FFF2-40B4-BE49-F238E27FC236}">
                <a16:creationId xmlns:a16="http://schemas.microsoft.com/office/drawing/2014/main" id="{221430E7-416A-4B0A-E75D-1573900ABB4D}"/>
              </a:ext>
            </a:extLst>
          </p:cNvPr>
          <p:cNvSpPr>
            <a:spLocks noGrp="1"/>
          </p:cNvSpPr>
          <p:nvPr>
            <p:ph idx="1"/>
          </p:nvPr>
        </p:nvSpPr>
        <p:spPr/>
        <p:txBody>
          <a:bodyPr>
            <a:normAutofit fontScale="77500" lnSpcReduction="20000"/>
          </a:bodyPr>
          <a:lstStyle/>
          <a:p>
            <a:r>
              <a:rPr lang="en-US" b="1" dirty="0">
                <a:latin typeface="Calibri" panose="020F0502020204030204" pitchFamily="34" charset="0"/>
                <a:ea typeface="Calibri" panose="020F0502020204030204" pitchFamily="34" charset="0"/>
                <a:cs typeface="Calibri" panose="020F0502020204030204" pitchFamily="34" charset="0"/>
              </a:rPr>
              <a:t>B) Hydraulic / Circulation Variables:</a:t>
            </a:r>
          </a:p>
          <a:p>
            <a:r>
              <a:rPr lang="en-US" dirty="0">
                <a:latin typeface="Calibri" panose="020F0502020204030204" pitchFamily="34" charset="0"/>
                <a:ea typeface="Calibri" panose="020F0502020204030204" pitchFamily="34" charset="0"/>
                <a:cs typeface="Calibri" panose="020F0502020204030204" pitchFamily="34" charset="0"/>
              </a:rPr>
              <a:t>These control cuttings removal and bottom-hole cleaning.</a:t>
            </a:r>
          </a:p>
          <a:p>
            <a:r>
              <a:rPr lang="en-US" dirty="0">
                <a:latin typeface="Calibri" panose="020F0502020204030204" pitchFamily="34" charset="0"/>
                <a:ea typeface="Calibri" panose="020F0502020204030204" pitchFamily="34" charset="0"/>
                <a:cs typeface="Calibri" panose="020F0502020204030204" pitchFamily="34" charset="0"/>
              </a:rPr>
              <a:t>Typical variables:</a:t>
            </a:r>
          </a:p>
          <a:p>
            <a:pPr marL="342900" indent="-3429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Flow Rate</a:t>
            </a:r>
          </a:p>
          <a:p>
            <a:pPr marL="342900" indent="-3429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Standpipe Pressure</a:t>
            </a:r>
          </a:p>
          <a:p>
            <a:pPr marL="342900" indent="-3429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Mud Density</a:t>
            </a:r>
          </a:p>
          <a:p>
            <a:r>
              <a:rPr lang="en-US" b="1" dirty="0">
                <a:latin typeface="Calibri" panose="020F0502020204030204" pitchFamily="34" charset="0"/>
                <a:ea typeface="Calibri" panose="020F0502020204030204" pitchFamily="34" charset="0"/>
                <a:cs typeface="Calibri" panose="020F0502020204030204" pitchFamily="34" charset="0"/>
              </a:rPr>
              <a:t>Proper hydraulics: </a:t>
            </a:r>
            <a:r>
              <a:rPr lang="en-US" dirty="0">
                <a:latin typeface="Calibri" panose="020F0502020204030204" pitchFamily="34" charset="0"/>
                <a:ea typeface="Calibri" panose="020F0502020204030204" pitchFamily="34" charset="0"/>
                <a:cs typeface="Calibri" panose="020F0502020204030204" pitchFamily="34" charset="0"/>
              </a:rPr>
              <a:t>Clean the bottom hole, Prevent regrinding cuttings, Stabilize ROP</a:t>
            </a:r>
          </a:p>
          <a:p>
            <a:r>
              <a:rPr lang="en-US" b="1" dirty="0">
                <a:latin typeface="Calibri" panose="020F0502020204030204" pitchFamily="34" charset="0"/>
                <a:ea typeface="Calibri" panose="020F0502020204030204" pitchFamily="34" charset="0"/>
                <a:cs typeface="Calibri" panose="020F0502020204030204" pitchFamily="34" charset="0"/>
              </a:rPr>
              <a:t>Statistical meaning:  These variables often show: </a:t>
            </a:r>
          </a:p>
          <a:p>
            <a:r>
              <a:rPr lang="en-US" dirty="0">
                <a:latin typeface="Calibri" panose="020F0502020204030204" pitchFamily="34" charset="0"/>
                <a:ea typeface="Calibri" panose="020F0502020204030204" pitchFamily="34" charset="0"/>
                <a:cs typeface="Calibri" panose="020F0502020204030204" pitchFamily="34" charset="0"/>
              </a:rPr>
              <a:t>Nonlinear relationships</a:t>
            </a:r>
          </a:p>
          <a:p>
            <a:r>
              <a:rPr lang="en-US" dirty="0">
                <a:latin typeface="Calibri" panose="020F0502020204030204" pitchFamily="34" charset="0"/>
                <a:ea typeface="Calibri" panose="020F0502020204030204" pitchFamily="34" charset="0"/>
                <a:cs typeface="Calibri" panose="020F0502020204030204" pitchFamily="34" charset="0"/>
              </a:rPr>
              <a:t>Interaction effects with WOB and RPM</a:t>
            </a: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PK" dirty="0"/>
          </a:p>
        </p:txBody>
      </p:sp>
    </p:spTree>
    <p:extLst>
      <p:ext uri="{BB962C8B-B14F-4D97-AF65-F5344CB8AC3E}">
        <p14:creationId xmlns:p14="http://schemas.microsoft.com/office/powerpoint/2010/main" val="4118944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D3120-DE76-51E2-288C-EF9AD136A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41181-6CCA-3298-1993-50224BA4F6CF}"/>
              </a:ext>
            </a:extLst>
          </p:cNvPr>
          <p:cNvSpPr>
            <a:spLocks noGrp="1"/>
          </p:cNvSpPr>
          <p:nvPr>
            <p:ph type="title"/>
          </p:nvPr>
        </p:nvSpPr>
        <p:spPr>
          <a:xfrm>
            <a:off x="525717" y="787069"/>
            <a:ext cx="10077557" cy="648540"/>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Appendix: Statistical Regression</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6" name="Content Placeholder 5">
            <a:extLst>
              <a:ext uri="{FF2B5EF4-FFF2-40B4-BE49-F238E27FC236}">
                <a16:creationId xmlns:a16="http://schemas.microsoft.com/office/drawing/2014/main" id="{B586F2C4-1907-0255-757F-F0A2625D815C}"/>
              </a:ext>
            </a:extLst>
          </p:cNvPr>
          <p:cNvSpPr>
            <a:spLocks noGrp="1"/>
          </p:cNvSpPr>
          <p:nvPr>
            <p:ph idx="1"/>
          </p:nvPr>
        </p:nvSpPr>
        <p:spPr>
          <a:xfrm>
            <a:off x="525717" y="2521885"/>
            <a:ext cx="10077557" cy="3805763"/>
          </a:xfrm>
        </p:spPr>
        <p:txBody>
          <a:bodyPr>
            <a:normAutofit fontScale="40000" lnSpcReduction="20000"/>
          </a:bodyPr>
          <a:lstStyle/>
          <a:p>
            <a:r>
              <a:rPr lang="en-US" sz="3100" b="1" dirty="0">
                <a:latin typeface="Calibri" panose="020F0502020204030204" pitchFamily="34" charset="0"/>
                <a:ea typeface="Calibri" panose="020F0502020204030204" pitchFamily="34" charset="0"/>
                <a:cs typeface="Calibri" panose="020F0502020204030204" pitchFamily="34" charset="0"/>
              </a:rPr>
              <a:t>C) Well Geometry / Environment Variables</a:t>
            </a:r>
          </a:p>
          <a:p>
            <a:r>
              <a:rPr lang="en-US" sz="3100" dirty="0">
                <a:latin typeface="Calibri" panose="020F0502020204030204" pitchFamily="34" charset="0"/>
                <a:ea typeface="Calibri" panose="020F0502020204030204" pitchFamily="34" charset="0"/>
                <a:cs typeface="Calibri" panose="020F0502020204030204" pitchFamily="34" charset="0"/>
              </a:rPr>
              <a:t>These describe the </a:t>
            </a:r>
            <a:r>
              <a:rPr lang="en-US" sz="3100" b="1" dirty="0">
                <a:latin typeface="Calibri" panose="020F0502020204030204" pitchFamily="34" charset="0"/>
                <a:ea typeface="Calibri" panose="020F0502020204030204" pitchFamily="34" charset="0"/>
                <a:cs typeface="Calibri" panose="020F0502020204030204" pitchFamily="34" charset="0"/>
              </a:rPr>
              <a:t>drilling environment</a:t>
            </a:r>
            <a:r>
              <a:rPr lang="en-US" sz="3100" dirty="0">
                <a:latin typeface="Calibri" panose="020F0502020204030204" pitchFamily="34" charset="0"/>
                <a:ea typeface="Calibri" panose="020F0502020204030204" pitchFamily="34" charset="0"/>
                <a:cs typeface="Calibri" panose="020F0502020204030204" pitchFamily="34" charset="0"/>
              </a:rPr>
              <a:t>, not direct energy.</a:t>
            </a:r>
          </a:p>
          <a:p>
            <a:pPr marL="457200" indent="-457200">
              <a:buFont typeface="Wingdings" panose="05000000000000000000" pitchFamily="2" charset="2"/>
              <a:buChar char="Ø"/>
            </a:pPr>
            <a:r>
              <a:rPr lang="en-US" sz="3100" dirty="0">
                <a:latin typeface="Calibri" panose="020F0502020204030204" pitchFamily="34" charset="0"/>
                <a:ea typeface="Calibri" panose="020F0502020204030204" pitchFamily="34" charset="0"/>
                <a:cs typeface="Calibri" panose="020F0502020204030204" pitchFamily="34" charset="0"/>
              </a:rPr>
              <a:t>Measured Depth / True Vertical Depth</a:t>
            </a:r>
          </a:p>
          <a:p>
            <a:pPr marL="457200" indent="-457200">
              <a:buFont typeface="Wingdings" panose="05000000000000000000" pitchFamily="2" charset="2"/>
              <a:buChar char="Ø"/>
            </a:pPr>
            <a:r>
              <a:rPr lang="en-US" sz="3100" dirty="0">
                <a:latin typeface="Calibri" panose="020F0502020204030204" pitchFamily="34" charset="0"/>
                <a:ea typeface="Calibri" panose="020F0502020204030204" pitchFamily="34" charset="0"/>
                <a:cs typeface="Calibri" panose="020F0502020204030204" pitchFamily="34" charset="0"/>
              </a:rPr>
              <a:t>Inclination</a:t>
            </a:r>
          </a:p>
          <a:p>
            <a:pPr marL="457200" indent="-457200">
              <a:buFont typeface="Wingdings" panose="05000000000000000000" pitchFamily="2" charset="2"/>
              <a:buChar char="Ø"/>
            </a:pPr>
            <a:r>
              <a:rPr lang="en-US" sz="3100" dirty="0">
                <a:latin typeface="Calibri" panose="020F0502020204030204" pitchFamily="34" charset="0"/>
                <a:ea typeface="Calibri" panose="020F0502020204030204" pitchFamily="34" charset="0"/>
                <a:cs typeface="Calibri" panose="020F0502020204030204" pitchFamily="34" charset="0"/>
              </a:rPr>
              <a:t>Hole Size</a:t>
            </a:r>
          </a:p>
          <a:p>
            <a:r>
              <a:rPr lang="en-US" sz="3100" dirty="0">
                <a:latin typeface="Calibri" panose="020F0502020204030204" pitchFamily="34" charset="0"/>
                <a:ea typeface="Calibri" panose="020F0502020204030204" pitchFamily="34" charset="0"/>
                <a:cs typeface="Calibri" panose="020F0502020204030204" pitchFamily="34" charset="0"/>
              </a:rPr>
              <a:t>These affect:</a:t>
            </a:r>
          </a:p>
          <a:p>
            <a:r>
              <a:rPr lang="en-US" sz="3100" dirty="0">
                <a:latin typeface="Calibri" panose="020F0502020204030204" pitchFamily="34" charset="0"/>
                <a:ea typeface="Calibri" panose="020F0502020204030204" pitchFamily="34" charset="0"/>
                <a:cs typeface="Calibri" panose="020F0502020204030204" pitchFamily="34" charset="0"/>
              </a:rPr>
              <a:t>Contact area of the bit</a:t>
            </a:r>
          </a:p>
          <a:p>
            <a:r>
              <a:rPr lang="en-US" sz="3100" dirty="0">
                <a:latin typeface="Calibri" panose="020F0502020204030204" pitchFamily="34" charset="0"/>
                <a:ea typeface="Calibri" panose="020F0502020204030204" pitchFamily="34" charset="0"/>
                <a:cs typeface="Calibri" panose="020F0502020204030204" pitchFamily="34" charset="0"/>
              </a:rPr>
              <a:t>Friction</a:t>
            </a:r>
          </a:p>
          <a:p>
            <a:r>
              <a:rPr lang="en-US" sz="3100" dirty="0">
                <a:latin typeface="Calibri" panose="020F0502020204030204" pitchFamily="34" charset="0"/>
                <a:ea typeface="Calibri" panose="020F0502020204030204" pitchFamily="34" charset="0"/>
                <a:cs typeface="Calibri" panose="020F0502020204030204" pitchFamily="34" charset="0"/>
              </a:rPr>
              <a:t>Cuttings transport efficiency</a:t>
            </a:r>
          </a:p>
          <a:p>
            <a:r>
              <a:rPr lang="en-US" sz="3100" b="1" dirty="0">
                <a:latin typeface="Calibri" panose="020F0502020204030204" pitchFamily="34" charset="0"/>
                <a:ea typeface="Calibri" panose="020F0502020204030204" pitchFamily="34" charset="0"/>
                <a:cs typeface="Calibri" panose="020F0502020204030204" pitchFamily="34" charset="0"/>
              </a:rPr>
              <a:t>Statistical meaning</a:t>
            </a:r>
            <a:r>
              <a:rPr lang="en-US" sz="3100" dirty="0">
                <a:latin typeface="Calibri" panose="020F0502020204030204" pitchFamily="34" charset="0"/>
                <a:ea typeface="Calibri" panose="020F0502020204030204" pitchFamily="34" charset="0"/>
                <a:cs typeface="Calibri" panose="020F0502020204030204" pitchFamily="34" charset="0"/>
              </a:rPr>
              <a:t>: These variables often introduce:</a:t>
            </a:r>
          </a:p>
          <a:p>
            <a:r>
              <a:rPr lang="en-US" sz="3100" dirty="0">
                <a:latin typeface="Calibri" panose="020F0502020204030204" pitchFamily="34" charset="0"/>
                <a:ea typeface="Calibri" panose="020F0502020204030204" pitchFamily="34" charset="0"/>
                <a:cs typeface="Calibri" panose="020F0502020204030204" pitchFamily="34" charset="0"/>
              </a:rPr>
              <a:t>Trend</a:t>
            </a:r>
          </a:p>
          <a:p>
            <a:r>
              <a:rPr lang="en-US" sz="3100" dirty="0">
                <a:latin typeface="Calibri" panose="020F0502020204030204" pitchFamily="34" charset="0"/>
                <a:ea typeface="Calibri" panose="020F0502020204030204" pitchFamily="34" charset="0"/>
                <a:cs typeface="Calibri" panose="020F0502020204030204" pitchFamily="34" charset="0"/>
              </a:rPr>
              <a:t>Heteroskedasticity</a:t>
            </a:r>
          </a:p>
          <a:p>
            <a:r>
              <a:rPr lang="en-US" sz="3100" dirty="0">
                <a:latin typeface="Calibri" panose="020F0502020204030204" pitchFamily="34" charset="0"/>
                <a:ea typeface="Calibri" panose="020F0502020204030204" pitchFamily="34" charset="0"/>
                <a:cs typeface="Calibri" panose="020F0502020204030204" pitchFamily="34" charset="0"/>
              </a:rPr>
              <a:t>Formation-dependent variance</a:t>
            </a: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PK" dirty="0"/>
          </a:p>
        </p:txBody>
      </p:sp>
    </p:spTree>
    <p:extLst>
      <p:ext uri="{BB962C8B-B14F-4D97-AF65-F5344CB8AC3E}">
        <p14:creationId xmlns:p14="http://schemas.microsoft.com/office/powerpoint/2010/main" val="89838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68574-77F2-29ED-6CD5-C499AD0FF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F2B31-FCBB-B175-1FF9-FCB85E168D89}"/>
              </a:ext>
            </a:extLst>
          </p:cNvPr>
          <p:cNvSpPr>
            <a:spLocks noGrp="1"/>
          </p:cNvSpPr>
          <p:nvPr>
            <p:ph type="title"/>
          </p:nvPr>
        </p:nvSpPr>
        <p:spPr>
          <a:xfrm>
            <a:off x="525717" y="787069"/>
            <a:ext cx="10077557" cy="648540"/>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Appendix: Multiple Linear Regression</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6" name="Content Placeholder 5">
            <a:extLst>
              <a:ext uri="{FF2B5EF4-FFF2-40B4-BE49-F238E27FC236}">
                <a16:creationId xmlns:a16="http://schemas.microsoft.com/office/drawing/2014/main" id="{ACF23144-4CFB-1B36-BDFC-C7A588D51D1F}"/>
              </a:ext>
            </a:extLst>
          </p:cNvPr>
          <p:cNvSpPr>
            <a:spLocks noGrp="1"/>
          </p:cNvSpPr>
          <p:nvPr>
            <p:ph idx="1"/>
          </p:nvPr>
        </p:nvSpPr>
        <p:spPr>
          <a:xfrm>
            <a:off x="525717" y="1655065"/>
            <a:ext cx="5445315" cy="4672584"/>
          </a:xfrm>
        </p:spPr>
        <p:txBody>
          <a:bodyPr>
            <a:normAutofit fontScale="92500" lnSpcReduction="10000"/>
          </a:bodyPr>
          <a:lstStyle/>
          <a:p>
            <a:r>
              <a:rPr lang="en-US" sz="1800" dirty="0">
                <a:latin typeface="Calibri" panose="020F0502020204030204" pitchFamily="34" charset="0"/>
                <a:ea typeface="Calibri" panose="020F0502020204030204" pitchFamily="34" charset="0"/>
                <a:cs typeface="Calibri" panose="020F0502020204030204" pitchFamily="34" charset="0"/>
              </a:rPr>
              <a:t>Initial MLR Model : </a:t>
            </a:r>
          </a:p>
          <a:p>
            <a:endParaRPr lang="en-US" sz="31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Final Model: (ROP) = 1.17 + 0.97 WOB + 0.11 RPM</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R² = 0.352</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ROP in this well is strongly controlled by WOB and moderately controlled by RPM. WOB is roughly 9× stronger than RPM per unit change. Together, they explain about 35% of the total ROP variability, with the remaining variation due to geology, hydraulics, bit wear, and transient conditions.</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F-statistic p-value = 0.00</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model is globally statistically significant. At least one predictor contributes to explaining ROP</a:t>
            </a:r>
            <a:endParaRPr lang="en-US" dirty="0"/>
          </a:p>
          <a:p>
            <a:endParaRPr lang="en-PK" dirty="0"/>
          </a:p>
        </p:txBody>
      </p:sp>
      <p:pic>
        <p:nvPicPr>
          <p:cNvPr id="7" name="Picture 6">
            <a:extLst>
              <a:ext uri="{FF2B5EF4-FFF2-40B4-BE49-F238E27FC236}">
                <a16:creationId xmlns:a16="http://schemas.microsoft.com/office/drawing/2014/main" id="{FBFDB4CD-4C20-3D35-4D65-9A71454D059F}"/>
              </a:ext>
            </a:extLst>
          </p:cNvPr>
          <p:cNvPicPr>
            <a:picLocks noChangeAspect="1"/>
          </p:cNvPicPr>
          <p:nvPr/>
        </p:nvPicPr>
        <p:blipFill>
          <a:blip r:embed="rId2"/>
          <a:stretch>
            <a:fillRect/>
          </a:stretch>
        </p:blipFill>
        <p:spPr>
          <a:xfrm>
            <a:off x="6736080" y="2899587"/>
            <a:ext cx="4572235" cy="2997354"/>
          </a:xfrm>
          <a:prstGeom prst="rect">
            <a:avLst/>
          </a:prstGeom>
        </p:spPr>
      </p:pic>
      <p:pic>
        <p:nvPicPr>
          <p:cNvPr id="9" name="Picture 8">
            <a:extLst>
              <a:ext uri="{FF2B5EF4-FFF2-40B4-BE49-F238E27FC236}">
                <a16:creationId xmlns:a16="http://schemas.microsoft.com/office/drawing/2014/main" id="{5D1621DC-4932-4897-2772-D8FF1C5BD768}"/>
              </a:ext>
            </a:extLst>
          </p:cNvPr>
          <p:cNvPicPr>
            <a:picLocks noChangeAspect="1"/>
          </p:cNvPicPr>
          <p:nvPr/>
        </p:nvPicPr>
        <p:blipFill>
          <a:blip r:embed="rId3"/>
          <a:stretch>
            <a:fillRect/>
          </a:stretch>
        </p:blipFill>
        <p:spPr>
          <a:xfrm>
            <a:off x="7367452" y="1907589"/>
            <a:ext cx="3054507" cy="425472"/>
          </a:xfrm>
          <a:prstGeom prst="rect">
            <a:avLst/>
          </a:prstGeom>
        </p:spPr>
      </p:pic>
    </p:spTree>
    <p:extLst>
      <p:ext uri="{BB962C8B-B14F-4D97-AF65-F5344CB8AC3E}">
        <p14:creationId xmlns:p14="http://schemas.microsoft.com/office/powerpoint/2010/main" val="3754861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2A2CB-755A-46E8-F673-D1FEA5171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FD387-7D0C-9009-2656-13982FB2083F}"/>
              </a:ext>
            </a:extLst>
          </p:cNvPr>
          <p:cNvSpPr>
            <a:spLocks noGrp="1"/>
          </p:cNvSpPr>
          <p:nvPr>
            <p:ph type="title"/>
          </p:nvPr>
        </p:nvSpPr>
        <p:spPr>
          <a:xfrm>
            <a:off x="525717" y="787069"/>
            <a:ext cx="10077557" cy="648540"/>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Appendix: Log Linear Regression</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6" name="Content Placeholder 5">
            <a:extLst>
              <a:ext uri="{FF2B5EF4-FFF2-40B4-BE49-F238E27FC236}">
                <a16:creationId xmlns:a16="http://schemas.microsoft.com/office/drawing/2014/main" id="{34E49FAC-F5AD-5B76-B7D2-1E94C0AEA75E}"/>
              </a:ext>
            </a:extLst>
          </p:cNvPr>
          <p:cNvSpPr>
            <a:spLocks noGrp="1"/>
          </p:cNvSpPr>
          <p:nvPr>
            <p:ph idx="1"/>
          </p:nvPr>
        </p:nvSpPr>
        <p:spPr>
          <a:xfrm>
            <a:off x="525717" y="1655065"/>
            <a:ext cx="5445315" cy="4672584"/>
          </a:xfrm>
        </p:spPr>
        <p:txBody>
          <a:bodyPr>
            <a:normAutofit fontScale="92500" lnSpcReduction="10000"/>
          </a:bodyPr>
          <a:lstStyle/>
          <a:p>
            <a:r>
              <a:rPr lang="en-US" sz="1800" dirty="0">
                <a:latin typeface="Calibri" panose="020F0502020204030204" pitchFamily="34" charset="0"/>
                <a:ea typeface="Calibri" panose="020F0502020204030204" pitchFamily="34" charset="0"/>
                <a:cs typeface="Calibri" panose="020F0502020204030204" pitchFamily="34" charset="0"/>
              </a:rPr>
              <a:t>Initial MLR Model : </a:t>
            </a:r>
          </a:p>
          <a:p>
            <a:endParaRPr lang="en-US" sz="31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Final Model: (ROP) = 1.56+ 0.05 WOB + 0.01 RPM</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R² = 0.384</a:t>
            </a:r>
          </a:p>
          <a:p>
            <a:pPr marL="285750" indent="-285750" algn="just">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log-linear regression model using WOB and RPM explains 38.4% of the variation in ROP. Both predictors are statistically significant (p &lt; 0.001). A 1 </a:t>
            </a:r>
            <a:r>
              <a:rPr lang="en-US" sz="1800" dirty="0" err="1">
                <a:latin typeface="Calibri" panose="020F0502020204030204" pitchFamily="34" charset="0"/>
                <a:ea typeface="Calibri" panose="020F0502020204030204" pitchFamily="34" charset="0"/>
                <a:cs typeface="Calibri" panose="020F0502020204030204" pitchFamily="34" charset="0"/>
              </a:rPr>
              <a:t>kkgf</a:t>
            </a:r>
            <a:r>
              <a:rPr lang="en-US" sz="1800" dirty="0">
                <a:latin typeface="Calibri" panose="020F0502020204030204" pitchFamily="34" charset="0"/>
                <a:ea typeface="Calibri" panose="020F0502020204030204" pitchFamily="34" charset="0"/>
                <a:cs typeface="Calibri" panose="020F0502020204030204" pitchFamily="34" charset="0"/>
              </a:rPr>
              <a:t> increase in WOB is associated with an average 4.9% increase in ROP, while a 1 rpm increase in RPM increases ROP by approximately 0.84%. The log transformation substantially reduces skewness and heavy-tailed behavior in the residuals, improving the validity of statistical inference. However, strong residual autocorrelation remains due to the time-series nature of drilling data.</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PK" dirty="0"/>
          </a:p>
        </p:txBody>
      </p:sp>
      <p:pic>
        <p:nvPicPr>
          <p:cNvPr id="5" name="Picture 4">
            <a:extLst>
              <a:ext uri="{FF2B5EF4-FFF2-40B4-BE49-F238E27FC236}">
                <a16:creationId xmlns:a16="http://schemas.microsoft.com/office/drawing/2014/main" id="{7AFE1505-7742-2CD9-D494-7CAA43660986}"/>
              </a:ext>
            </a:extLst>
          </p:cNvPr>
          <p:cNvPicPr>
            <a:picLocks noChangeAspect="1"/>
          </p:cNvPicPr>
          <p:nvPr/>
        </p:nvPicPr>
        <p:blipFill>
          <a:blip r:embed="rId2"/>
          <a:stretch>
            <a:fillRect/>
          </a:stretch>
        </p:blipFill>
        <p:spPr>
          <a:xfrm>
            <a:off x="7160648" y="2899587"/>
            <a:ext cx="4673840" cy="3130711"/>
          </a:xfrm>
          <a:prstGeom prst="rect">
            <a:avLst/>
          </a:prstGeom>
        </p:spPr>
      </p:pic>
      <p:pic>
        <p:nvPicPr>
          <p:cNvPr id="9" name="Picture 8">
            <a:extLst>
              <a:ext uri="{FF2B5EF4-FFF2-40B4-BE49-F238E27FC236}">
                <a16:creationId xmlns:a16="http://schemas.microsoft.com/office/drawing/2014/main" id="{C5C56208-B7A2-CD42-2C7C-B2DA59F3AB26}"/>
              </a:ext>
            </a:extLst>
          </p:cNvPr>
          <p:cNvPicPr>
            <a:picLocks noChangeAspect="1"/>
          </p:cNvPicPr>
          <p:nvPr/>
        </p:nvPicPr>
        <p:blipFill>
          <a:blip r:embed="rId3"/>
          <a:stretch>
            <a:fillRect/>
          </a:stretch>
        </p:blipFill>
        <p:spPr>
          <a:xfrm>
            <a:off x="7714717" y="2040607"/>
            <a:ext cx="3054507" cy="425472"/>
          </a:xfrm>
          <a:prstGeom prst="rect">
            <a:avLst/>
          </a:prstGeom>
        </p:spPr>
      </p:pic>
    </p:spTree>
    <p:extLst>
      <p:ext uri="{BB962C8B-B14F-4D97-AF65-F5344CB8AC3E}">
        <p14:creationId xmlns:p14="http://schemas.microsoft.com/office/powerpoint/2010/main" val="2167950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F7A83-A7FC-B7F8-B16C-9641366E6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C1497-6F41-27B9-CE44-934160A4F632}"/>
              </a:ext>
            </a:extLst>
          </p:cNvPr>
          <p:cNvSpPr>
            <a:spLocks noGrp="1"/>
          </p:cNvSpPr>
          <p:nvPr>
            <p:ph type="title"/>
          </p:nvPr>
        </p:nvSpPr>
        <p:spPr>
          <a:xfrm>
            <a:off x="525717" y="787069"/>
            <a:ext cx="10077557" cy="648540"/>
          </a:xfrm>
        </p:spPr>
        <p:txBody>
          <a:bodyPr/>
          <a:lstStyle/>
          <a:p>
            <a:r>
              <a:rPr lang="en-US" b="1" i="0">
                <a:latin typeface="Calibri" panose="020F0502020204030204" pitchFamily="34" charset="0"/>
                <a:ea typeface="Calibri" panose="020F0502020204030204" pitchFamily="34" charset="0"/>
                <a:cs typeface="Calibri" panose="020F0502020204030204" pitchFamily="34" charset="0"/>
              </a:rPr>
              <a:t>Appendix: Log Linear Regression</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7A32CB26-C018-764B-DDD9-104D79346DE5}"/>
              </a:ext>
            </a:extLst>
          </p:cNvPr>
          <p:cNvPicPr>
            <a:picLocks noChangeAspect="1"/>
          </p:cNvPicPr>
          <p:nvPr/>
        </p:nvPicPr>
        <p:blipFill>
          <a:blip r:embed="rId2"/>
          <a:stretch>
            <a:fillRect/>
          </a:stretch>
        </p:blipFill>
        <p:spPr>
          <a:xfrm>
            <a:off x="7352673" y="95924"/>
            <a:ext cx="4673840" cy="3013036"/>
          </a:xfrm>
          <a:prstGeom prst="rect">
            <a:avLst/>
          </a:prstGeom>
        </p:spPr>
      </p:pic>
      <p:pic>
        <p:nvPicPr>
          <p:cNvPr id="9" name="Picture 8">
            <a:extLst>
              <a:ext uri="{FF2B5EF4-FFF2-40B4-BE49-F238E27FC236}">
                <a16:creationId xmlns:a16="http://schemas.microsoft.com/office/drawing/2014/main" id="{DC1B48DB-0DE5-24DE-461C-6A66062036D6}"/>
              </a:ext>
            </a:extLst>
          </p:cNvPr>
          <p:cNvPicPr>
            <a:picLocks noChangeAspect="1"/>
          </p:cNvPicPr>
          <p:nvPr/>
        </p:nvPicPr>
        <p:blipFill>
          <a:blip r:embed="rId3"/>
          <a:stretch>
            <a:fillRect/>
          </a:stretch>
        </p:blipFill>
        <p:spPr>
          <a:xfrm>
            <a:off x="6236208" y="3108961"/>
            <a:ext cx="5955792" cy="3653116"/>
          </a:xfrm>
          <a:prstGeom prst="rect">
            <a:avLst/>
          </a:prstGeom>
        </p:spPr>
      </p:pic>
      <p:sp>
        <p:nvSpPr>
          <p:cNvPr id="13" name="TextBox 12">
            <a:extLst>
              <a:ext uri="{FF2B5EF4-FFF2-40B4-BE49-F238E27FC236}">
                <a16:creationId xmlns:a16="http://schemas.microsoft.com/office/drawing/2014/main" id="{F2E2A2E8-4A56-7837-BEE7-234DC35FEC03}"/>
              </a:ext>
            </a:extLst>
          </p:cNvPr>
          <p:cNvSpPr txBox="1"/>
          <p:nvPr/>
        </p:nvSpPr>
        <p:spPr>
          <a:xfrm>
            <a:off x="429767" y="1602442"/>
            <a:ext cx="5640953" cy="5016758"/>
          </a:xfrm>
          <a:prstGeom prst="rect">
            <a:avLst/>
          </a:prstGeom>
          <a:noFill/>
        </p:spPr>
        <p:txBody>
          <a:bodyPr wrap="square" rtlCol="0">
            <a:spAutoFit/>
          </a:bodyPr>
          <a:lstStyle/>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Model Diagnostics. Residual diagnostics were performed on the log-linear regression model to verify the key OLS assumptions. </a:t>
            </a:r>
          </a:p>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residuals are centered around zero with no strong nonlinear pattern, indicating that the linearity assumption is reasonably satisfied. However, the spread of residuals varies with the fitted values, suggesting heteroskedasticity.</a:t>
            </a:r>
          </a:p>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The Q–Q plot of residuals shows that the log-transformation substantially improves normality compared to the raw ROP model, although deviations remain in the tails, indicating heavy-tailed behavior.</a:t>
            </a:r>
          </a:p>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The presence of heteroskedasticity is formally confirmed by the Breusch–Pagan test (p-value &lt; 0.001), leading to rejection of the null hypothesis of constant variance. In addition, the Durbin–Watson statistic indicates strong positive autocorrelation, which is expected given the time-series nature of drilling data. While these assumption violations limit strict classical inference, the coefficient estimates remain unbiased, and the model is suitable for predictive and operational analysis with the stated limitations.</a:t>
            </a:r>
            <a:endParaRPr lang="en-PK"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873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520DE-3E3B-69C9-04C9-84710F8B9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DB3E6-C4FE-4C16-C2A3-A71311B7787B}"/>
              </a:ext>
            </a:extLst>
          </p:cNvPr>
          <p:cNvSpPr>
            <a:spLocks noGrp="1"/>
          </p:cNvSpPr>
          <p:nvPr>
            <p:ph type="title"/>
          </p:nvPr>
        </p:nvSpPr>
        <p:spPr>
          <a:xfrm>
            <a:off x="525717" y="787069"/>
            <a:ext cx="10077557" cy="648540"/>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Appendix: Bingham Model – Nonlinear</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6" name="Content Placeholder 5">
            <a:extLst>
              <a:ext uri="{FF2B5EF4-FFF2-40B4-BE49-F238E27FC236}">
                <a16:creationId xmlns:a16="http://schemas.microsoft.com/office/drawing/2014/main" id="{0EA9B512-2D5B-B441-ADF2-036E614D1A35}"/>
              </a:ext>
            </a:extLst>
          </p:cNvPr>
          <p:cNvSpPr>
            <a:spLocks noGrp="1"/>
          </p:cNvSpPr>
          <p:nvPr>
            <p:ph idx="1"/>
          </p:nvPr>
        </p:nvSpPr>
        <p:spPr>
          <a:xfrm>
            <a:off x="525717" y="1655065"/>
            <a:ext cx="5445315" cy="4672584"/>
          </a:xfrm>
        </p:spPr>
        <p:txBody>
          <a:bodyPr>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Final Bingham Model: </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Where:</a:t>
            </a:r>
          </a:p>
          <a:p>
            <a:pPr marL="285750" indent="-285750">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ROP</a:t>
            </a:r>
            <a:r>
              <a:rPr lang="en-US" sz="1800" dirty="0">
                <a:latin typeface="Calibri" panose="020F0502020204030204" pitchFamily="34" charset="0"/>
                <a:ea typeface="Calibri" panose="020F0502020204030204" pitchFamily="34" charset="0"/>
                <a:cs typeface="Calibri" panose="020F0502020204030204" pitchFamily="34" charset="0"/>
              </a:rPr>
              <a:t> = Rate of Penetration (m/h)</a:t>
            </a:r>
          </a:p>
          <a:p>
            <a:pPr marL="285750" indent="-285750">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WOB</a:t>
            </a:r>
            <a:r>
              <a:rPr lang="en-US" sz="1800" dirty="0">
                <a:latin typeface="Calibri" panose="020F0502020204030204" pitchFamily="34" charset="0"/>
                <a:ea typeface="Calibri" panose="020F0502020204030204" pitchFamily="34" charset="0"/>
                <a:cs typeface="Calibri" panose="020F0502020204030204" pitchFamily="34" charset="0"/>
              </a:rPr>
              <a:t> = Weight on Bit</a:t>
            </a:r>
          </a:p>
          <a:p>
            <a:pPr marL="285750" indent="-285750">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Db</a:t>
            </a:r>
            <a:r>
              <a:rPr lang="en-US" sz="1800" dirty="0">
                <a:latin typeface="Calibri" panose="020F0502020204030204" pitchFamily="34" charset="0"/>
                <a:ea typeface="Calibri" panose="020F0502020204030204" pitchFamily="34" charset="0"/>
                <a:cs typeface="Calibri" panose="020F0502020204030204" pitchFamily="34" charset="0"/>
              </a:rPr>
              <a:t> = Bit diameter</a:t>
            </a:r>
          </a:p>
          <a:p>
            <a:pPr marL="285750" indent="-285750">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N</a:t>
            </a:r>
            <a:r>
              <a:rPr lang="en-US" sz="1800" dirty="0">
                <a:latin typeface="Calibri" panose="020F0502020204030204" pitchFamily="34" charset="0"/>
                <a:ea typeface="Calibri" panose="020F0502020204030204" pitchFamily="34" charset="0"/>
                <a:cs typeface="Calibri" panose="020F0502020204030204" pitchFamily="34" charset="0"/>
              </a:rPr>
              <a:t> = Rotary speed (RPM)</a:t>
            </a:r>
          </a:p>
          <a:p>
            <a:pPr marL="285750" indent="-285750">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K</a:t>
            </a:r>
            <a:r>
              <a:rPr lang="en-US" sz="1800" dirty="0">
                <a:latin typeface="Calibri" panose="020F0502020204030204" pitchFamily="34" charset="0"/>
                <a:ea typeface="Calibri" panose="020F0502020204030204" pitchFamily="34" charset="0"/>
                <a:cs typeface="Calibri" panose="020F0502020204030204" pitchFamily="34" charset="0"/>
              </a:rPr>
              <a:t> = constant related to formation strength = 0.43</a:t>
            </a:r>
          </a:p>
          <a:p>
            <a:pPr marL="285750" indent="-285750">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a:t>
            </a:r>
            <a:r>
              <a:rPr lang="en-US" sz="1800" dirty="0">
                <a:latin typeface="Calibri" panose="020F0502020204030204" pitchFamily="34" charset="0"/>
                <a:ea typeface="Calibri" panose="020F0502020204030204" pitchFamily="34" charset="0"/>
                <a:cs typeface="Calibri" panose="020F0502020204030204" pitchFamily="34" charset="0"/>
              </a:rPr>
              <a:t> = bit weight exponent = 0.21</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a &lt; 1 → diminishing returns of WOB</a:t>
            </a:r>
          </a:p>
          <a:p>
            <a:pPr marL="285750" indent="-285750">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PK" dirty="0"/>
          </a:p>
        </p:txBody>
      </p:sp>
      <p:pic>
        <p:nvPicPr>
          <p:cNvPr id="9" name="Picture 8">
            <a:extLst>
              <a:ext uri="{FF2B5EF4-FFF2-40B4-BE49-F238E27FC236}">
                <a16:creationId xmlns:a16="http://schemas.microsoft.com/office/drawing/2014/main" id="{5B7E8B0E-98E6-48BB-7B65-F06C3164E33B}"/>
              </a:ext>
            </a:extLst>
          </p:cNvPr>
          <p:cNvPicPr>
            <a:picLocks noChangeAspect="1"/>
          </p:cNvPicPr>
          <p:nvPr/>
        </p:nvPicPr>
        <p:blipFill>
          <a:blip r:embed="rId2"/>
          <a:stretch>
            <a:fillRect/>
          </a:stretch>
        </p:blipFill>
        <p:spPr>
          <a:xfrm>
            <a:off x="8412153" y="740841"/>
            <a:ext cx="2273417" cy="730288"/>
          </a:xfrm>
          <a:prstGeom prst="rect">
            <a:avLst/>
          </a:prstGeom>
        </p:spPr>
      </p:pic>
      <p:pic>
        <p:nvPicPr>
          <p:cNvPr id="11" name="Picture 10">
            <a:extLst>
              <a:ext uri="{FF2B5EF4-FFF2-40B4-BE49-F238E27FC236}">
                <a16:creationId xmlns:a16="http://schemas.microsoft.com/office/drawing/2014/main" id="{E344D2B0-5B9D-C597-B971-AB09E63A935B}"/>
              </a:ext>
            </a:extLst>
          </p:cNvPr>
          <p:cNvPicPr>
            <a:picLocks noChangeAspect="1"/>
          </p:cNvPicPr>
          <p:nvPr/>
        </p:nvPicPr>
        <p:blipFill>
          <a:blip r:embed="rId3"/>
          <a:stretch>
            <a:fillRect/>
          </a:stretch>
        </p:blipFill>
        <p:spPr>
          <a:xfrm>
            <a:off x="4088044" y="2110299"/>
            <a:ext cx="2952902" cy="806491"/>
          </a:xfrm>
          <a:prstGeom prst="rect">
            <a:avLst/>
          </a:prstGeom>
        </p:spPr>
      </p:pic>
    </p:spTree>
    <p:extLst>
      <p:ext uri="{BB962C8B-B14F-4D97-AF65-F5344CB8AC3E}">
        <p14:creationId xmlns:p14="http://schemas.microsoft.com/office/powerpoint/2010/main" val="3989452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695BF-CBD1-D2C3-5310-B036DE254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4F992-FF6D-87EF-1EC6-184313699CE8}"/>
              </a:ext>
            </a:extLst>
          </p:cNvPr>
          <p:cNvSpPr>
            <a:spLocks noGrp="1"/>
          </p:cNvSpPr>
          <p:nvPr>
            <p:ph type="title"/>
          </p:nvPr>
        </p:nvSpPr>
        <p:spPr>
          <a:xfrm>
            <a:off x="525717" y="787069"/>
            <a:ext cx="10077557" cy="648540"/>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Appendix: Model Comparison (Using RMSE)</a:t>
            </a:r>
            <a:endParaRPr lang="en-PK" b="1" i="0" dirty="0">
              <a:latin typeface="Calibri" panose="020F0502020204030204" pitchFamily="34" charset="0"/>
              <a:ea typeface="Calibri" panose="020F0502020204030204" pitchFamily="34" charset="0"/>
              <a:cs typeface="Calibri" panose="020F0502020204030204" pitchFamily="34" charset="0"/>
            </a:endParaRPr>
          </a:p>
        </p:txBody>
      </p:sp>
      <p:sp>
        <p:nvSpPr>
          <p:cNvPr id="6" name="Content Placeholder 5">
            <a:extLst>
              <a:ext uri="{FF2B5EF4-FFF2-40B4-BE49-F238E27FC236}">
                <a16:creationId xmlns:a16="http://schemas.microsoft.com/office/drawing/2014/main" id="{FBD848D2-F181-3659-FFBD-7B25807A65A3}"/>
              </a:ext>
            </a:extLst>
          </p:cNvPr>
          <p:cNvSpPr>
            <a:spLocks noGrp="1"/>
          </p:cNvSpPr>
          <p:nvPr>
            <p:ph idx="1"/>
          </p:nvPr>
        </p:nvSpPr>
        <p:spPr>
          <a:xfrm>
            <a:off x="525717" y="1655065"/>
            <a:ext cx="10077557" cy="4672584"/>
          </a:xfrm>
        </p:spPr>
        <p:txBody>
          <a:bodyPr>
            <a:normAutofit/>
          </a:bodyPr>
          <a:lstStyle/>
          <a:p>
            <a:pPr marL="285750" indent="-285750">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RMSE (Bingham Model) = 7.821</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RMSE (Log-MLR Model) = 7.895</a:t>
            </a:r>
          </a:p>
          <a:p>
            <a:r>
              <a:rPr lang="en-US" sz="1800" dirty="0">
                <a:latin typeface="Calibri" panose="020F0502020204030204" pitchFamily="34" charset="0"/>
                <a:ea typeface="Calibri" panose="020F0502020204030204" pitchFamily="34" charset="0"/>
                <a:cs typeface="Calibri" panose="020F0502020204030204" pitchFamily="34" charset="0"/>
              </a:rPr>
              <a:t>Numerical Comparison:</a:t>
            </a:r>
          </a:p>
          <a:p>
            <a:pPr algn="ctr"/>
            <a:r>
              <a:rPr lang="el-GR" sz="1800" dirty="0">
                <a:latin typeface="Calibri" panose="020F0502020204030204" pitchFamily="34" charset="0"/>
                <a:ea typeface="Calibri" panose="020F0502020204030204" pitchFamily="34" charset="0"/>
                <a:cs typeface="Calibri" panose="020F0502020204030204" pitchFamily="34" charset="0"/>
              </a:rPr>
              <a:t>Δ𝑅𝑀𝑆𝐸=7.895−7.821=0.074</a:t>
            </a:r>
            <a:r>
              <a:rPr lang="en-US" sz="1800" dirty="0">
                <a:latin typeface="Calibri" panose="020F0502020204030204" pitchFamily="34" charset="0"/>
                <a:ea typeface="Calibri" panose="020F0502020204030204" pitchFamily="34" charset="0"/>
                <a:cs typeface="Calibri" panose="020F0502020204030204" pitchFamily="34" charset="0"/>
              </a:rPr>
              <a:t>	​</a:t>
            </a:r>
          </a:p>
          <a:p>
            <a:r>
              <a:rPr lang="en-US" sz="1800" dirty="0">
                <a:latin typeface="Calibri" panose="020F0502020204030204" pitchFamily="34" charset="0"/>
                <a:ea typeface="Calibri" panose="020F0502020204030204" pitchFamily="34" charset="0"/>
                <a:cs typeface="Calibri" panose="020F0502020204030204" pitchFamily="34" charset="0"/>
              </a:rPr>
              <a:t>That means:</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Bingham model has a LOWER prediction error.</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improvement is:</a:t>
            </a:r>
          </a:p>
          <a:p>
            <a:pPr marL="285750" indent="-285750">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Small in absolute terms, But consistent and real</a:t>
            </a: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PK" dirty="0"/>
          </a:p>
        </p:txBody>
      </p:sp>
    </p:spTree>
    <p:extLst>
      <p:ext uri="{BB962C8B-B14F-4D97-AF65-F5344CB8AC3E}">
        <p14:creationId xmlns:p14="http://schemas.microsoft.com/office/powerpoint/2010/main" val="1959709407"/>
      </p:ext>
    </p:extLst>
  </p:cSld>
  <p:clrMapOvr>
    <a:masterClrMapping/>
  </p:clrMapOvr>
</p:sld>
</file>

<file path=ppt/theme/theme1.xml><?xml version="1.0" encoding="utf-8"?>
<a:theme xmlns:a="http://schemas.openxmlformats.org/drawingml/2006/main" name="RocaVTI">
  <a:themeElements>
    <a:clrScheme name="Custom 101">
      <a:dk1>
        <a:sysClr val="windowText" lastClr="000000"/>
      </a:dk1>
      <a:lt1>
        <a:sysClr val="window" lastClr="FFFFFF"/>
      </a:lt1>
      <a:dk2>
        <a:srgbClr val="463443"/>
      </a:dk2>
      <a:lt2>
        <a:srgbClr val="F3F0E9"/>
      </a:lt2>
      <a:accent1>
        <a:srgbClr val="D45E5E"/>
      </a:accent1>
      <a:accent2>
        <a:srgbClr val="D49D8C"/>
      </a:accent2>
      <a:accent3>
        <a:srgbClr val="BF873A"/>
      </a:accent3>
      <a:accent4>
        <a:srgbClr val="C05050"/>
      </a:accent4>
      <a:accent5>
        <a:srgbClr val="A89F68"/>
      </a:accent5>
      <a:accent6>
        <a:srgbClr val="8F6B8A"/>
      </a:accent6>
      <a:hlink>
        <a:srgbClr val="D75681"/>
      </a:hlink>
      <a:folHlink>
        <a:srgbClr val="6C9D92"/>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docProps/app.xml><?xml version="1.0" encoding="utf-8"?>
<Properties xmlns="http://schemas.openxmlformats.org/officeDocument/2006/extended-properties" xmlns:vt="http://schemas.openxmlformats.org/officeDocument/2006/docPropsVTypes">
  <TotalTime>854</TotalTime>
  <Words>1521</Words>
  <Application>Microsoft Office PowerPoint</Application>
  <PresentationFormat>Widescreen</PresentationFormat>
  <Paragraphs>154</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Avenir Next LT Pro</vt:lpstr>
      <vt:lpstr>Avenir Next LT Pro Light</vt:lpstr>
      <vt:lpstr>Calibri</vt:lpstr>
      <vt:lpstr>Cambria Math</vt:lpstr>
      <vt:lpstr>Georgia Pro Semibold</vt:lpstr>
      <vt:lpstr>Wingdings</vt:lpstr>
      <vt:lpstr>RocaVTI</vt:lpstr>
      <vt:lpstr>Predicting Rate of Penetration (ROP) using drilling parameters. A Comparative Analysis: Statistical Linear Regression vs. Physics-Based Modelling</vt:lpstr>
      <vt:lpstr>Problem Statement &amp; Objective </vt:lpstr>
      <vt:lpstr>Dataset Overview &amp; Exploratory Data Analysis</vt:lpstr>
      <vt:lpstr>Methodology: The Two Approaches</vt:lpstr>
      <vt:lpstr>Methodology: The Two Approaches</vt:lpstr>
      <vt:lpstr>Comparison of Both Models</vt:lpstr>
      <vt:lpstr>Conclusion - The Final Takeaway</vt:lpstr>
      <vt:lpstr>Appendix: EDA</vt:lpstr>
      <vt:lpstr>Appendix: Multicollinearity &amp; Heteroskedasticity  </vt:lpstr>
      <vt:lpstr>Appendix: Statistical Regression</vt:lpstr>
      <vt:lpstr>Appendix: Statistical Regression</vt:lpstr>
      <vt:lpstr>Appendix: Statistical Regression</vt:lpstr>
      <vt:lpstr>Appendix: Multiple Linear Regression</vt:lpstr>
      <vt:lpstr>Appendix: Log Linear Regression</vt:lpstr>
      <vt:lpstr>Appendix: Log Linear Regression</vt:lpstr>
      <vt:lpstr>Appendix: Bingham Model – Nonlinear</vt:lpstr>
      <vt:lpstr>Appendix: Model Comparison (Using RMSE)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Mushahid Raza</dc:creator>
  <cp:lastModifiedBy>Mushahid Raza</cp:lastModifiedBy>
  <cp:revision>16</cp:revision>
  <dcterms:created xsi:type="dcterms:W3CDTF">2025-12-10T06:40:33Z</dcterms:created>
  <dcterms:modified xsi:type="dcterms:W3CDTF">2025-12-11T22:07:23Z</dcterms:modified>
</cp:coreProperties>
</file>